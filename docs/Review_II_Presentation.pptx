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86bae7-b9cf-5a62-5306-d977c44d4f28}">
          <p14:sldIdLst>
            <p14:sldId id="256"/>
            <p14:sldId id="257"/>
            <p14:sldId id="258"/>
          </p14:sldIdLst>
        </p14:section>
        <p14:section name="Method" id="{436154f7-4644-0cd5-b058-6a79274d7602}">
          <p14:sldIdLst>
            <p14:sldId id="259"/>
            <p14:sldId id="260"/>
            <p14:sldId id="261"/>
            <p14:sldId id="262"/>
            <p14:sldId id="263"/>
            <p14:sldId id="264"/>
          </p14:sldIdLst>
        </p14:section>
        <p14:section name="Evaluation" id="{68beb2ca-932d-484a-c265-c121bef43d8c}">
          <p14:sldIdLst>
            <p14:sldId id="265"/>
          </p14:sldIdLst>
        </p14:section>
        <p14:section name="Results" id="{d06ff10e-3ff5-d6ef-f561-5563c5367b4b}">
          <p14:sldIdLst>
            <p14:sldId id="266"/>
            <p14:sldId id="267"/>
            <p14:sldId id="268"/>
            <p14:sldId id="269"/>
            <p14:sldId id="270"/>
            <p14:sldId id="271"/>
          </p14:sldIdLst>
        </p14:section>
        <p14:section name="Demo and close" id="{2ff58f5b-243e-2b24-d471-daa183149f38}">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Best strength s per water type (calibration split)</a:t>
            </a:r>
          </a:p>
        </c:rich>
      </c:tx>
      <c:layout/>
      <c:overlay val="0"/>
    </c:title>
    <c:autoTitleDeleted val="0"/>
    <c:plotArea>
      <c:layout/>
      <c:barChart>
        <c:barDir val="col"/>
        <c:grouping val="clustered"/>
        <c:varyColors val="0"/>
        <c:ser>
          <c:idx val="0"/>
          <c:order val="0"/>
          <c:tx>
            <c:strRef>
              <c:f>Sheet1!$B$1</c:f>
              <c:strCache>
                <c:ptCount val="1"/>
                <c:pt idx="0">
                  <c:v>Best strength</c:v>
                </c:pt>
              </c:strCache>
            </c:strRef>
          </c:tx>
          <c:spPr>
            <a:solidFill>
              <a:srgbClr val="0E7490"/>
            </a:solidFill>
            <a:effectLst/>
          </c:spPr>
          <c:invertIfNegative val="0"/>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0E7490"/>
              </a:solidFill>
              <a:effectLst/>
            </c:spPr>
          </c:dPt>
          <c:dPt>
            <c:idx val="1"/>
            <c:invertIfNegative val="0"/>
            <c:bubble3D val="0"/>
            <c:spPr>
              <a:solidFill>
                <a:srgbClr val="0E7490"/>
              </a:solidFill>
              <a:effectLst/>
            </c:spPr>
          </c:dPt>
          <c:dPt>
            <c:idx val="2"/>
            <c:invertIfNegative val="0"/>
            <c:bubble3D val="0"/>
            <c:spPr>
              <a:solidFill>
                <a:srgbClr val="0E7490"/>
              </a:solidFill>
              <a:effectLst/>
            </c:spPr>
          </c:dPt>
          <c:dPt>
            <c:idx val="3"/>
            <c:invertIfNegative val="0"/>
            <c:bubble3D val="0"/>
            <c:spPr>
              <a:solidFill>
                <a:srgbClr val="0E7490"/>
              </a:solidFill>
              <a:effectLst/>
            </c:spPr>
          </c:dPt>
          <c:cat>
            <c:multiLvlStrRef>
              <c:f>Sheet1!$A$2:$A$5</c:f>
              <c:multiLvlStrCache>
                <c:ptCount val="4"/>
                <c:lvl>
                  <c:pt idx="0">
                    <c:v>Deep low-light</c:v>
                  </c:pt>
                  <c:pt idx="1">
                    <c:v>Clear blue</c:v>
                  </c:pt>
                  <c:pt idx="2">
                    <c:v>Green turbid</c:v>
                  </c:pt>
                  <c:pt idx="3">
                    <c:v>Hazy bright</c:v>
                  </c:pt>
                </c:lvl>
              </c:multiLvlStrCache>
            </c:multiLvlStrRef>
          </c:cat>
          <c:val>
            <c:numRef>
              <c:f>Sheet1!$B$2:$B$5</c:f>
              <c:numCache>
                <c:formatCode>General</c:formatCode>
                <c:ptCount val="4"/>
                <c:pt idx="0">
                  <c:v>0.5</c:v>
                </c:pt>
                <c:pt idx="1">
                  <c:v>0.75</c:v>
                </c:pt>
                <c:pt idx="2">
                  <c:v>0.75</c:v>
                </c:pt>
                <c:pt idx="3">
                  <c:v>0</c:v>
                </c:pt>
              </c:numCache>
            </c:numRef>
          </c:val>
        </c:ser>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PSNR (dB), calibration split, 5-fold cross-validation</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4748B"/>
            </a:solidFill>
            <a:effectLst/>
          </c:spPr>
          <c:invertIfNegative val="0"/>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0E7490"/>
              </a:solidFill>
              <a:effectLst/>
            </c:spPr>
          </c:dPt>
          <c:dPt>
            <c:idx val="2"/>
            <c:invertIfNegative val="0"/>
            <c:bubble3D val="0"/>
            <c:spPr>
              <a:solidFill>
                <a:srgbClr val="94A3B8"/>
              </a:solidFill>
              <a:effectLst/>
            </c:spPr>
          </c:dPt>
          <c:cat>
            <c:multiLvlStrRef>
              <c:f>Sheet1!$A$2:$A$4</c:f>
              <c:multiLvlStrCache>
                <c:ptCount val="3"/>
                <c:lvl>
                  <c:pt idx="0">
                    <c:v>Fixed α = 0.5</c:v>
                  </c:pt>
                  <c:pt idx="1">
                    <c:v>Predicted α (ours)</c:v>
                  </c:pt>
                  <c:pt idx="2">
                    <c:v>Oracle α (uses reference)</c:v>
                  </c:pt>
                </c:lvl>
              </c:multiLvlStrCache>
            </c:multiLvlStrRef>
          </c:cat>
          <c:val>
            <c:numRef>
              <c:f>Sheet1!$B$2:$B$4</c:f>
              <c:numCache>
                <c:formatCode>General</c:formatCode>
                <c:ptCount val="3"/>
                <c:pt idx="0">
                  <c:v>17.94141498810848</c:v>
                </c:pt>
                <c:pt idx="1">
                  <c:v>18.04706680280767</c:v>
                </c:pt>
                <c:pt idx="2">
                  <c:v>18.580680254076537</c:v>
                </c:pt>
              </c:numCache>
            </c:numRef>
          </c:val>
        </c:ser>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9.5"/>
          <c:min val="17"/>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PSNR (dB) · 622 held-out images</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8B5CF6"/>
            </a:solidFill>
            <a:effectLst/>
          </c:spPr>
          <c:invertIfNegative val="0"/>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8B5CF6"/>
              </a:solidFill>
              <a:effectLst/>
            </c:spPr>
          </c:dPt>
          <c:dPt>
            <c:idx val="1"/>
            <c:invertIfNegative val="0"/>
            <c:bubble3D val="0"/>
            <c:spPr>
              <a:solidFill>
                <a:srgbClr val="F97316"/>
              </a:solidFill>
              <a:effectLst/>
            </c:spPr>
          </c:dPt>
          <c:dPt>
            <c:idx val="2"/>
            <c:invertIfNegative val="0"/>
            <c:bubble3D val="0"/>
            <c:spPr>
              <a:solidFill>
                <a:srgbClr val="10B981"/>
              </a:solidFill>
              <a:effectLst/>
            </c:spPr>
          </c:dPt>
          <c:dPt>
            <c:idx val="3"/>
            <c:invertIfNegative val="0"/>
            <c:bubble3D val="0"/>
            <c:spPr>
              <a:solidFill>
                <a:srgbClr val="0E7490"/>
              </a:solidFill>
              <a:effectLst/>
            </c:spPr>
          </c:dPt>
          <c:cat>
            <c:multiLvlStrRef>
              <c:f>Sheet1!$A$2:$A$5</c:f>
              <c:multiLvlStrCache>
                <c:ptCount val="4"/>
                <c:lvl>
                  <c:pt idx="0">
                    <c:v>UDCP</c:v>
                  </c:pt>
                  <c:pt idx="1">
                    <c:v>Conventional HE</c:v>
                  </c:pt>
                  <c:pt idx="2">
                    <c:v>CLAHE-only</c:v>
                  </c:pt>
                  <c:pt idx="3">
                    <c:v>Proposed hybrid</c:v>
                  </c:pt>
                </c:lvl>
              </c:multiLvlStrCache>
            </c:multiLvlStrRef>
          </c:cat>
          <c:val>
            <c:numRef>
              <c:f>Sheet1!$B$2:$B$5</c:f>
              <c:numCache>
                <c:formatCode>General</c:formatCode>
                <c:ptCount val="4"/>
                <c:pt idx="0">
                  <c:v>12.98822578790581</c:v>
                </c:pt>
                <c:pt idx="1">
                  <c:v>16.361188786943266</c:v>
                </c:pt>
                <c:pt idx="2">
                  <c:v>18.317963796471883</c:v>
                </c:pt>
                <c:pt idx="3">
                  <c:v>18.2732843208807</c:v>
                </c:pt>
              </c:numCache>
            </c:numRef>
          </c:val>
        </c:ser>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SSIM · 622 held-out images</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8B5CF6"/>
            </a:solidFill>
            <a:effectLst/>
          </c:spPr>
          <c:invertIfNegative val="0"/>
          <c:dLbls>
            <c:numFmt formatCode="0.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8B5CF6"/>
              </a:solidFill>
              <a:effectLst/>
            </c:spPr>
          </c:dPt>
          <c:dPt>
            <c:idx val="1"/>
            <c:invertIfNegative val="0"/>
            <c:bubble3D val="0"/>
            <c:spPr>
              <a:solidFill>
                <a:srgbClr val="F97316"/>
              </a:solidFill>
              <a:effectLst/>
            </c:spPr>
          </c:dPt>
          <c:dPt>
            <c:idx val="2"/>
            <c:invertIfNegative val="0"/>
            <c:bubble3D val="0"/>
            <c:spPr>
              <a:solidFill>
                <a:srgbClr val="10B981"/>
              </a:solidFill>
              <a:effectLst/>
            </c:spPr>
          </c:dPt>
          <c:dPt>
            <c:idx val="3"/>
            <c:invertIfNegative val="0"/>
            <c:bubble3D val="0"/>
            <c:spPr>
              <a:solidFill>
                <a:srgbClr val="0E7490"/>
              </a:solidFill>
              <a:effectLst/>
            </c:spPr>
          </c:dPt>
          <c:cat>
            <c:multiLvlStrRef>
              <c:f>Sheet1!$A$2:$A$5</c:f>
              <c:multiLvlStrCache>
                <c:ptCount val="4"/>
                <c:lvl>
                  <c:pt idx="0">
                    <c:v>UDCP</c:v>
                  </c:pt>
                  <c:pt idx="1">
                    <c:v>Conventional HE</c:v>
                  </c:pt>
                  <c:pt idx="2">
                    <c:v>CLAHE-only</c:v>
                  </c:pt>
                  <c:pt idx="3">
                    <c:v>Proposed hybrid</c:v>
                  </c:pt>
                </c:lvl>
              </c:multiLvlStrCache>
            </c:multiLvlStrRef>
          </c:cat>
          <c:val>
            <c:numRef>
              <c:f>Sheet1!$B$2:$B$5</c:f>
              <c:numCache>
                <c:formatCode>General</c:formatCode>
                <c:ptCount val="4"/>
                <c:pt idx="0">
                  <c:v>0.6559660852179874</c:v>
                </c:pt>
                <c:pt idx="1">
                  <c:v>0.7808003549074046</c:v>
                </c:pt>
                <c:pt idx="2">
                  <c:v>0.8397517317713133</c:v>
                </c:pt>
                <c:pt idx="3">
                  <c:v>0.8714819823811786</c:v>
                </c:pt>
              </c:numCache>
            </c:numRef>
          </c:val>
        </c:ser>
        <c:dLbls>
          <c:numFmt formatCode="0.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Held-out PSNR change (dB)</a:t>
            </a:r>
          </a:p>
        </c:rich>
      </c:tx>
      <c:layout/>
      <c:overlay val="0"/>
    </c:title>
    <c:autoTitleDeleted val="0"/>
    <c:plotArea>
      <c:layout/>
      <c:barChart>
        <c:barDir val="bar"/>
        <c:grouping val="clustered"/>
        <c:varyColors val="0"/>
        <c:ser>
          <c:idx val="0"/>
          <c:order val="0"/>
          <c:tx>
            <c:strRef>
              <c:f>Sheet1!$B$1</c:f>
              <c:strCache>
                <c:ptCount val="1"/>
                <c:pt idx="0">
                  <c:v>PSNR change</c:v>
                </c:pt>
              </c:strCache>
            </c:strRef>
          </c:tx>
          <c:spPr>
            <a:solidFill>
              <a:srgbClr val="0E7490"/>
            </a:solidFill>
            <a:effectLst/>
          </c:spPr>
          <c:invertIfNegative val="0"/>
          <c:dLbls>
            <c:numFmt formatCode="+0.00;-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0E7490"/>
              </a:solidFill>
              <a:effectLst/>
            </c:spPr>
          </c:dPt>
          <c:dPt>
            <c:idx val="1"/>
            <c:invertIfNegative val="0"/>
            <c:bubble3D val="0"/>
            <c:spPr>
              <a:solidFill>
                <a:srgbClr val="0E7490"/>
              </a:solidFill>
              <a:effectLst/>
            </c:spPr>
          </c:dPt>
          <c:dPt>
            <c:idx val="2"/>
            <c:invertIfNegative val="0"/>
            <c:bubble3D val="0"/>
            <c:spPr>
              <a:solidFill>
                <a:srgbClr val="0E7490"/>
              </a:solidFill>
              <a:effectLst/>
            </c:spPr>
          </c:dPt>
          <c:dPt>
            <c:idx val="3"/>
            <c:invertIfNegative val="0"/>
            <c:bubble3D val="0"/>
            <c:spPr>
              <a:solidFill>
                <a:srgbClr val="F97316"/>
              </a:solidFill>
              <a:effectLst/>
            </c:spPr>
          </c:dPt>
          <c:cat>
            <c:multiLvlStrRef>
              <c:f>Sheet1!$A$2:$A$5</c:f>
              <c:multiLvlStrCache>
                <c:ptCount val="4"/>
                <c:lvl>
                  <c:pt idx="0">
                    <c:v>Red-channel compensation</c:v>
                  </c:pt>
                  <c:pt idx="1">
                    <c:v>Module 7 · predicted α</c:v>
                  </c:pt>
                  <c:pt idx="2">
                    <c:v>Module 5 · per-type routing</c:v>
                  </c:pt>
                  <c:pt idx="3">
                    <c:v>Original Module 7 search</c:v>
                  </c:pt>
                </c:lvl>
              </c:multiLvlStrCache>
            </c:multiLvlStrRef>
          </c:cat>
          <c:val>
            <c:numRef>
              <c:f>Sheet1!$B$2:$B$5</c:f>
              <c:numCache>
                <c:formatCode>General</c:formatCode>
                <c:ptCount val="4"/>
                <c:pt idx="0">
                  <c:v>0.5171053158474199</c:v>
                </c:pt>
                <c:pt idx="1">
                  <c:v>0.1625066994067161</c:v>
                </c:pt>
                <c:pt idx="2">
                  <c:v>0.0169644114909495</c:v>
                </c:pt>
                <c:pt idx="3">
                  <c:v>-0.7724125012186993</c:v>
                </c:pt>
              </c:numCache>
            </c:numRef>
          </c:val>
        </c:ser>
        <c:dLbls>
          <c:numFmt formatCode="+0.00;-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PSNR (dB) when α is chosen by each score · calibration split</a:t>
            </a:r>
          </a:p>
        </c:rich>
      </c:tx>
      <c:layout/>
      <c:overlay val="0"/>
    </c:title>
    <c:autoTitleDeleted val="0"/>
    <c:plotArea>
      <c:layout/>
      <c:barChart>
        <c:barDir val="bar"/>
        <c:grouping val="clustered"/>
        <c:varyColors val="0"/>
        <c:ser>
          <c:idx val="0"/>
          <c:order val="0"/>
          <c:tx>
            <c:strRef>
              <c:f>Sheet1!$B$1</c:f>
              <c:strCache>
                <c:ptCount val="1"/>
                <c:pt idx="0">
                  <c:v>PSNR</c:v>
                </c:pt>
              </c:strCache>
            </c:strRef>
          </c:tx>
          <c:spPr>
            <a:solidFill>
              <a:srgbClr val="64748B"/>
            </a:solidFill>
            <a:effectLst/>
          </c:spPr>
          <c:invertIfNegative val="0"/>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F97316"/>
              </a:solidFill>
              <a:effectLst/>
            </c:spPr>
          </c:dPt>
          <c:dPt>
            <c:idx val="2"/>
            <c:invertIfNegative val="0"/>
            <c:bubble3D val="0"/>
            <c:spPr>
              <a:solidFill>
                <a:srgbClr val="F97316"/>
              </a:solidFill>
              <a:effectLst/>
            </c:spPr>
          </c:dPt>
          <c:dPt>
            <c:idx val="3"/>
            <c:invertIfNegative val="0"/>
            <c:bubble3D val="0"/>
            <c:spPr>
              <a:solidFill>
                <a:srgbClr val="F97316"/>
              </a:solidFill>
              <a:effectLst/>
            </c:spPr>
          </c:dPt>
          <c:dPt>
            <c:idx val="4"/>
            <c:invertIfNegative val="0"/>
            <c:bubble3D val="0"/>
            <c:spPr>
              <a:solidFill>
                <a:srgbClr val="F97316"/>
              </a:solidFill>
              <a:effectLst/>
            </c:spPr>
          </c:dPt>
          <c:dPt>
            <c:idx val="5"/>
            <c:invertIfNegative val="0"/>
            <c:bubble3D val="0"/>
            <c:spPr>
              <a:solidFill>
                <a:srgbClr val="0E7490"/>
              </a:solidFill>
              <a:effectLst/>
            </c:spPr>
          </c:dPt>
          <c:cat>
            <c:multiLvlStrRef>
              <c:f>Sheet1!$A$2:$A$7</c:f>
              <c:multiLvlStrCache>
                <c:ptCount val="6"/>
                <c:lvl>
                  <c:pt idx="0">
                    <c:v>Fixed α = 0.5</c:v>
                  </c:pt>
                  <c:pt idx="1">
                    <c:v>Max UCIQE+UIQM</c:v>
                  </c:pt>
                  <c:pt idx="2">
                    <c:v>Max UCIQE</c:v>
                  </c:pt>
                  <c:pt idx="3">
                    <c:v>Max UIQM</c:v>
                  </c:pt>
                  <c:pt idx="4">
                    <c:v>Max entropy</c:v>
                  </c:pt>
                  <c:pt idx="5">
                    <c:v>Oracle (reference)</c:v>
                  </c:pt>
                </c:lvl>
              </c:multiLvlStrCache>
            </c:multiLvlStrRef>
          </c:cat>
          <c:val>
            <c:numRef>
              <c:f>Sheet1!$B$2:$B$7</c:f>
              <c:numCache>
                <c:formatCode>General</c:formatCode>
                <c:ptCount val="6"/>
                <c:pt idx="0">
                  <c:v>17.94141498810848</c:v>
                </c:pt>
                <c:pt idx="1">
                  <c:v>17.27733615070428</c:v>
                </c:pt>
                <c:pt idx="2">
                  <c:v>16.85402570880714</c:v>
                </c:pt>
                <c:pt idx="3">
                  <c:v>17.77434688214725</c:v>
                </c:pt>
                <c:pt idx="4">
                  <c:v>17.804727450034214</c:v>
                </c:pt>
                <c:pt idx="5">
                  <c:v>18.580680254076537</c:v>
                </c:pt>
              </c:numCache>
            </c:numRef>
          </c:val>
        </c:ser>
        <c:dLbls>
          <c:numFmt formatCode="0.0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9.5"/>
          <c:min val="16"/>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[Kopal · ~1 min]
Good morning. We are presenting our Review II work: a hybrid underwater image restoration pipeline.
On the right is a real image from the UIEB benchmark, before and after our method.
In the next 15 minutes: why underwater images look wrong, how our pipeline fixes each problem, how we evaluated it fairly, and what we found — followed by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[Kopal · ~1 min]
Underwater images degrade in three physical ways.
First, colour cast: water absorbs red within the first few metres, so scenes turn blue-green — like the green image on the left.
Second, haze: particles scatter light back toward the camera, adding a fog that grows with distance.
Third, low light and flat contrast at depth.
How strong each problem is depends on the water — deep water loses the most red, turbid water scatters the most. That observation drives 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[Kopal · ~1 min]
Our goal: restore underwater images using only classical image processing — no deep learning — and make every stage adapt to the water type.
We contribute three novel modules. Module 5 classifies the water and routes parameters, including how much red light to restore. Module 7 predicts, per image, how to blend two complementary processing streams. Module 9 checks that restoration actually helps computer-vision tasks.
We also report a finding: the popular no-reference scores UCIQE and UIQM mislead when you optimise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[Kopal · ~1 min]
Here is the whole pipeline. The raw image is first classified by water type — that picks a parameter profile used by every later stage.
Steps 1 to 3 fix colour and brightness: rebuild the missing red, neutralise the remaining cast, adjust brightness.
Then we make two complementary versions: a detail stream with CLAHE, and a haze-free stream with the underwater dark channel prior.
Module 7 predicts how much to trust each stream for this image, and a multi-scale pyramid blends them per pixel. The highlighted boxes are our novel modules. Yathaartha will now take you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This is every stage on one test image, classified clear blue.
Red compensation warms the coral; white balance removes the blue cast; gamma brightens.
The CLAHE stream, bottom left, has the most texture but looks grey. The dehazed stream has depth and colour but is darker.
The fused result, framed, combines both. On this image it scores SSIM 0.875 against 0.831 for CLAHE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Module 5 classifies every image with four cheap statistics — brightness, haze, saturation and green dominance — using these rules in order.
Each water type maps to a profile of five parameters. Importantly, these were not hand-tuned: we calibrated them on 30% of the dataset, and a water type only keeps its own profile if it beats a single global profile with statistical significance.
hazy bright kept their own stage-1 values; every type uses the global red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Our biggest gain comes from this step. Water removes red so thoroughly that simply scaling the red channel just amplifies noise.
Instead, following Ancuti et al., we rebuild red from the green channel, which survives better and correlates with true red content. The (1 − R) term protects pixels that are already red.
The strength is routed per water type. Calibration ranked the best strengths clear blue (0.75), green turbid (0.75), deep low-light (0.5) and hazy bright (0).
On held-out images this step alone adds 0.52 dB PSNR.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White balance applies gray-world gains, capped so a near-empty channel isn't blown up. Gamma sets overall brightness.
Then the key idea of a hybrid: two complementary streams. CLAHE on the lightness channel recovers texture without shifting colours — but alone it looks grey and noisy.
The underwater dark channel prior estimates haze per pixel using only green and blue — red is always dark underwater and would fool it — and removes it. It restores depth but darkens.
Neither is good alone; the next step decides how to combine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The fusion stage blends the two streams. Weight maps reward contrast, saturation and salient detail, so each pixel draws from whichever stream looks better there, and a Laplacian pyramid hides any seams.
On top of that, Module 7 predicts a global bias alpha for each image, from 26 cheap no-reference statistics.
If we could pick the best alpha per image using the reference, PSNR would rise by 0.64 dB — that is the headroom. Our predictor recovers about 17% of it in cross-validation, with no reference needed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[Yathaartha · ~1 min]
A key part of this review is how we evaluated. Tuning on the same images you report on inflates results, so we split UIEB once: 268 images for calibration, 622 held out.
All three calibration stages use only the calibration images; every number you will see is on the 622.
Our ablation is fair: "routing off" uses a global profile tuned exactly the same way. And because with 600 images almost anything is "significant", we report Holm-corrected tests with effect sizes and confidence intervals.
One caveat: UIEB references are volunteer-preferred enhancements, not ground truth. Manav will now present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~1.5 min]
Here are the main results on the 622 held-out images.
Proposed hybrid: PSNR 18.27 dB, SSIM 0.871. Against histogram equalisation: +1.91 dB; against UDCP: +5.29 dB.
Against CLAHE-only, the strongest classical baseline: level on PSNR (−0.04 dB, negligible, not significant) and +0.032 SSIM (medium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 min]
This breaks the result down by component, all on held-out images.
Red-channel compensation: +0.52 dB. Module 7's predicted alpha: +0.16 dB. Per-type routing: +0.02 dB.
The orange bar is the original version of Module 7, which picked alpha by maximising image-quality scores: −0.77 dB against the predictor. That leads to our main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~1.5 min]
Our first Module 7 did what many papers do: choose the fusion weight that maximises the image's own UCIQE and UIQM — no reference needed.
We found it backfires. These scores reward extreme blends, so the search pushed alpha to 0 or 1 for 87% of images. Every score-maximising selector on this chart is worse than simply fixing alpha at 0.5, while the oracle shows what's possible.
On held-out images the search costs 0.77 dB against our predictor. Conventional HE tells the same story: it tops UCIQE while losing on fidelity. The lesson: validate a no-reference score against references before you optimise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 min]
Two held-out examples, chosen as typical for their water type — close to the median gain over both CLAHE-only and HE — not cherry-picked.
Top, green turbid water: compare each method's colours with the reference on the right. PSNR 21.59 dB for ours vs 20.91 for CLAHE-only and 18.82 for HE.
Bottom, hazy bright water: PSNR 15.52 vs 15.52 (CLAHE-only) and 14.29 (HE); SSIM 0.797 vs 0.771 and 0.746.
Individual images vary — HE wins on some — which is why every claim is based on the 622-image averages.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 min]
We want to be upfront about limitations.
First, PSNR: we are level with CLAHE-only overall (−0.04 dB, not a meaningful difference), and CLAHE-only still wins on 45% of test images — like this one, where our restoration drifts from the reference's colours.
Second, routing: there is about 1.45 dB of per-image headroom, and four discrete water types capture only +0.02 dB of it.
Third, calibration chose the mildest values we searched (WB cap 1.5, CLAHE × 0.6 and ω 0.5), so the references prefer gentler processing than our grid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~1 min]
Before trusting any number, we audited the pipeline and the evaluation and found silent bugs — nothing crashed, the numbers were just wrong.
The most important: UCIQE was computed on OpenCV's 8-bit Lab encoding, which made every grey pixel look highly coloured; and the original optimiser's objective was almost entirely one term. We also stopped tuning on the test images, added multiple-comparison correction, and found an inverted gamma convention — after fixing it we re-ran the whole calibration and evaluation.
Every fix is documented in the results report with before-and-after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[Manav · ~4 min]
[Switch to the browser — the app should already be running and on 773_img_.]
Follow the six steps on the slide; keep it to about four minutes. If the app fails, stay on this deck and use slides 5, 13 and 14 as the visual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[Kopal · ~1 min]
To close, three takeaways. [Read the three lines.]
Thank you — we are happy to take questions. [See docs/PRESENTATION_GUIDE.md for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30936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474720"/>
            <a:ext cx="603504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Hybrid underwater image restoration · Review II</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image" Target="../media/image-14-8.jpg"/><Relationship Id="rId9" Type="http://schemas.openxmlformats.org/officeDocument/2006/relationships/image" Target="../media/image-14-9.jpg"/><Relationship Id="rId10" Type="http://schemas.openxmlformats.org/officeDocument/2006/relationships/image" Target="../media/image-14-10.jpg"/><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914400"/>
            <a:ext cx="6309360" cy="365760"/>
          </a:xfrm>
          <a:prstGeom prst="rect">
            <a:avLst/>
          </a:prstGeom>
          <a:noFill/>
          <a:ln/>
        </p:spPr>
        <p:txBody>
          <a:bodyPr wrap="square" lIns="0" tIns="0" rIns="0" bIns="0" rtlCol="0" anchor="t"/>
          <a:lstStyle/>
          <a:p>
            <a:pPr indent="0" marL="0">
              <a:buNone/>
            </a:pPr>
            <a:r>
              <a:rPr lang="en-US" sz="1300" b="1" spc="100" kern="0" dirty="0">
                <a:solidFill>
                  <a:schemeClr val="accent2"/>
                </a:solidFill>
              </a:rPr>
              <a:t>REVIEW II · BCSE403L DIGITAL IMAGE PROCESSING</a:t>
            </a:r>
            <a:endParaRPr lang="en-US" sz="1300" dirty="0"/>
          </a:p>
        </p:txBody>
      </p:sp>
      <p:sp>
        <p:nvSpPr>
          <p:cNvPr id="3" name="Text 0"/>
          <p:cNvSpPr/>
          <p:nvPr>
            <p:ph idx="100" type="title" hasCustomPrompt="1"/>
          </p:nvPr>
        </p:nvSpPr>
        <p:spPr>
          <a:xfrm>
            <a:off x="548640" y="1417320"/>
            <a:ext cx="6309360" cy="1920240"/>
          </a:xfrm>
          <a:prstGeom prst="rect">
            <a:avLst/>
          </a:prstGeom>
          <a:noFill/>
          <a:ln/>
        </p:spPr>
        <p:txBody>
          <a:bodyPr wrap="square" lIns="0" tIns="0" rIns="0" bIns="0" rtlCol="0" anchor="b"/>
          <a:lstStyle/>
          <a:p>
            <a:pPr algn="l" indent="0" marL="0">
              <a:buNone/>
            </a:pPr>
            <a:r>
              <a:rPr lang="en-US" sz="4400" b="1" dirty="0">
                <a:solidFill>
                  <a:schemeClr val="bg1"/>
                </a:solidFill>
              </a:rPr>
              <a:t>Hybrid underwater image restoration</a:t>
            </a:r>
            <a:endParaRPr lang="en-US" sz="4400" dirty="0"/>
          </a:p>
        </p:txBody>
      </p:sp>
      <p:sp>
        <p:nvSpPr>
          <p:cNvPr id="4" name="Text 0"/>
          <p:cNvSpPr/>
          <p:nvPr>
            <p:ph idx="101" type="body" hasCustomPrompt="1"/>
          </p:nvPr>
        </p:nvSpPr>
        <p:spPr>
          <a:xfrm>
            <a:off x="548640" y="3474720"/>
            <a:ext cx="6035040" cy="914400"/>
          </a:xfrm>
          <a:prstGeom prst="rect">
            <a:avLst/>
          </a:prstGeom>
          <a:noFill/>
          <a:ln/>
        </p:spPr>
        <p:txBody>
          <a:bodyPr wrap="square" lIns="0" tIns="0" rIns="0" bIns="0" rtlCol="0" anchor="t"/>
          <a:lstStyle/>
          <a:p>
            <a:pPr algn="l" indent="0" marL="0">
              <a:buNone/>
            </a:pPr>
            <a:r>
              <a:rPr lang="en-US" sz="1800" dirty="0">
                <a:solidFill>
                  <a:schemeClr val="bg2"/>
                </a:solidFill>
              </a:rPr>
              <a:t>Adaptive colour correction, CLAHE and dehazing, tuned to the type of water in each image</a:t>
            </a:r>
            <a:endParaRPr lang="en-US" sz="1800" dirty="0"/>
          </a:p>
        </p:txBody>
      </p:sp>
      <p:sp>
        <p:nvSpPr>
          <p:cNvPr id="5" name="team"/>
          <p:cNvSpPr txBox="1"/>
          <p:nvPr/>
        </p:nvSpPr>
        <p:spPr>
          <a:xfrm>
            <a:off x="548640" y="5120640"/>
            <a:ext cx="6309360" cy="822960"/>
          </a:xfrm>
          <a:prstGeom prst="rect">
            <a:avLst/>
          </a:prstGeom>
          <a:noFill/>
          <a:ln/>
        </p:spPr>
        <p:txBody>
          <a:bodyPr wrap="square" lIns="0" tIns="0" rIns="0" bIns="0" rtlCol="0" anchor="t"/>
          <a:lstStyle/>
          <a:p>
            <a:pPr indent="0" marL="0">
              <a:buNone/>
            </a:pPr>
            <a:r>
              <a:rPr lang="en-US" sz="1600" b="1" dirty="0">
                <a:solidFill>
                  <a:schemeClr val="bg1"/>
                </a:solidFill>
              </a:rPr>
              <a:t>Kopal Sachan · Yathaartha Srivastava · Manav Prakash</a:t>
            </a:r>
            <a:endParaRPr lang="en-US" sz="1400" dirty="0"/>
          </a:p>
          <a:p>
            <a:pPr indent="0" marL="0">
              <a:buNone/>
            </a:pPr>
            <a:r>
              <a:rPr lang="en-US" sz="1300" dirty="0">
                <a:solidFill>
                  <a:schemeClr val="bg2"/>
                </a:solidFill>
              </a:rPr>
              <a:t>VIT School of Computer Science and Engineering · Fall 2026–27</a:t>
            </a:r>
            <a:endParaRPr lang="en-US" sz="1400" dirty="0"/>
          </a:p>
        </p:txBody>
      </p:sp>
      <p:pic>
        <p:nvPicPr>
          <p:cNvPr id="6" name="raw example" descr="scripts/presentation/build/img/794_img__raw.jpg">    </p:cNvPr>
          <p:cNvPicPr>
            <a:picLocks noChangeAspect="1"/>
          </p:cNvPicPr>
          <p:nvPr/>
        </p:nvPicPr>
        <p:blipFill>
          <a:blip r:embed="rId1"/>
          <a:stretch>
            <a:fillRect/>
          </a:stretch>
        </p:blipFill>
        <p:spPr>
          <a:xfrm>
            <a:off x="7528255" y="429518"/>
            <a:ext cx="4114800" cy="2885182"/>
          </a:xfrm>
          <a:prstGeom prst="rect">
            <a:avLst/>
          </a:prstGeom>
        </p:spPr>
      </p:pic>
      <p:pic>
        <p:nvPicPr>
          <p:cNvPr id="7" name="restored example" descr="scripts/presentation/build/img/794_img__proposed_hybrid.jpg">    </p:cNvPr>
          <p:cNvPicPr>
            <a:picLocks noChangeAspect="1"/>
          </p:cNvPicPr>
          <p:nvPr/>
        </p:nvPicPr>
        <p:blipFill>
          <a:blip r:embed="rId2"/>
          <a:stretch>
            <a:fillRect/>
          </a:stretch>
        </p:blipFill>
        <p:spPr>
          <a:xfrm>
            <a:off x="7528255" y="3543300"/>
            <a:ext cx="4114800" cy="2885182"/>
          </a:xfrm>
          <a:prstGeom prst="rect">
            <a:avLst/>
          </a:prstGeom>
        </p:spPr>
      </p:pic>
      <p:sp>
        <p:nvSpPr>
          <p:cNvPr id="8" name="Raw tag"/>
          <p:cNvSpPr/>
          <p:nvPr/>
        </p:nvSpPr>
        <p:spPr>
          <a:xfrm>
            <a:off x="7665415" y="2857500"/>
            <a:ext cx="1234440" cy="329184"/>
          </a:xfrm>
          <a:prstGeom prst="roundRect">
            <a:avLst>
              <a:gd name="adj" fmla="val 22222"/>
            </a:avLst>
          </a:prstGeom>
          <a:solidFill>
            <a:schemeClr val="tx2">
              <a:alpha val="80000"/>
            </a:schemeClr>
          </a:solidFill>
          <a:ln w="12700">
            <a:solidFill>
              <a:schemeClr val="tx2">
                <a:alpha val="80000"/>
              </a:schemeClr>
            </a:solidFill>
            <a:prstDash val="solid"/>
          </a:ln>
        </p:spPr>
      </p:sp>
      <p:sp>
        <p:nvSpPr>
          <p:cNvPr id="9" name="Raw tag text"/>
          <p:cNvSpPr txBox="1"/>
          <p:nvPr/>
        </p:nvSpPr>
        <p:spPr>
          <a:xfrm>
            <a:off x="7665415" y="2857500"/>
            <a:ext cx="1234440" cy="329184"/>
          </a:xfrm>
          <a:prstGeom prst="rect">
            <a:avLst/>
          </a:prstGeom>
          <a:noFill/>
          <a:ln/>
        </p:spPr>
        <p:txBody>
          <a:bodyPr wrap="square" lIns="0" tIns="0" rIns="0" bIns="0" rtlCol="0" anchor="ctr"/>
          <a:lstStyle/>
          <a:p>
            <a:pPr algn="ctr" indent="0" marL="0">
              <a:buNone/>
            </a:pPr>
            <a:r>
              <a:rPr lang="en-US" sz="1300" b="1" dirty="0">
                <a:solidFill>
                  <a:schemeClr val="bg1"/>
                </a:solidFill>
              </a:rPr>
              <a:t>Raw</a:t>
            </a:r>
            <a:endParaRPr lang="en-US" sz="1300" dirty="0"/>
          </a:p>
        </p:txBody>
      </p:sp>
      <p:sp>
        <p:nvSpPr>
          <p:cNvPr id="10" name="Restored tag"/>
          <p:cNvSpPr/>
          <p:nvPr/>
        </p:nvSpPr>
        <p:spPr>
          <a:xfrm>
            <a:off x="7665415" y="5971282"/>
            <a:ext cx="1234440" cy="329184"/>
          </a:xfrm>
          <a:prstGeom prst="roundRect">
            <a:avLst>
              <a:gd name="adj" fmla="val 22222"/>
            </a:avLst>
          </a:prstGeom>
          <a:solidFill>
            <a:schemeClr val="tx2">
              <a:alpha val="80000"/>
            </a:schemeClr>
          </a:solidFill>
          <a:ln w="12700">
            <a:solidFill>
              <a:schemeClr val="tx2">
                <a:alpha val="80000"/>
              </a:schemeClr>
            </a:solidFill>
            <a:prstDash val="solid"/>
          </a:ln>
        </p:spPr>
      </p:sp>
      <p:sp>
        <p:nvSpPr>
          <p:cNvPr id="11" name="Restored tag text"/>
          <p:cNvSpPr txBox="1"/>
          <p:nvPr/>
        </p:nvSpPr>
        <p:spPr>
          <a:xfrm>
            <a:off x="7665415" y="5971282"/>
            <a:ext cx="1234440" cy="329184"/>
          </a:xfrm>
          <a:prstGeom prst="rect">
            <a:avLst/>
          </a:prstGeom>
          <a:noFill/>
          <a:ln/>
        </p:spPr>
        <p:txBody>
          <a:bodyPr wrap="square" lIns="0" tIns="0" rIns="0" bIns="0" rtlCol="0" anchor="ctr"/>
          <a:lstStyle/>
          <a:p>
            <a:pPr algn="ctr" indent="0" marL="0">
              <a:buNone/>
            </a:pPr>
            <a:r>
              <a:rPr lang="en-US" sz="1300" b="1" dirty="0">
                <a:solidFill>
                  <a:schemeClr val="bg1"/>
                </a:solidFill>
              </a:rPr>
              <a:t>Restored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underwater photos look wrong</a:t>
            </a:r>
            <a:endParaRPr lang="en-US" sz="3200" dirty="0"/>
          </a:p>
        </p:txBody>
      </p:sp>
      <p:pic>
        <p:nvPicPr>
          <p:cNvPr id="3" name="raw green turbid" descr="scripts/presentation/build/img/441_img__raw.jpg">    </p:cNvPr>
          <p:cNvPicPr>
            <a:picLocks noChangeAspect="1"/>
          </p:cNvPicPr>
          <p:nvPr/>
        </p:nvPicPr>
        <p:blipFill>
          <a:blip r:embed="rId1"/>
          <a:stretch>
            <a:fillRect/>
          </a:stretch>
        </p:blipFill>
        <p:spPr>
          <a:xfrm>
            <a:off x="548640" y="1371600"/>
            <a:ext cx="4846320" cy="3634740"/>
          </a:xfrm>
          <a:prstGeom prst="rect">
            <a:avLst/>
          </a:prstGeom>
        </p:spPr>
      </p:pic>
      <p:sp>
        <p:nvSpPr>
          <p:cNvPr id="4" name="caption"/>
          <p:cNvSpPr txBox="1"/>
          <p:nvPr/>
        </p:nvSpPr>
        <p:spPr>
          <a:xfrm>
            <a:off x="548640" y="5116068"/>
            <a:ext cx="4846320" cy="274320"/>
          </a:xfrm>
          <a:prstGeom prst="rect">
            <a:avLst/>
          </a:prstGeom>
          <a:noFill/>
          <a:ln/>
        </p:spPr>
        <p:txBody>
          <a:bodyPr wrap="square" lIns="0" tIns="0" rIns="0" bIns="0" rtlCol="0" anchor="t"/>
          <a:lstStyle/>
          <a:p>
            <a:pPr indent="0" marL="0">
              <a:buNone/>
            </a:pPr>
            <a:r>
              <a:rPr lang="en-US" sz="1200" dirty="0">
                <a:solidFill>
                  <a:schemeClr val="accent5"/>
                </a:solidFill>
              </a:rPr>
              <a:t>Raw UIEB image from green, turbid water</a:t>
            </a:r>
            <a:endParaRPr lang="en-US" sz="1200" dirty="0"/>
          </a:p>
        </p:txBody>
      </p:sp>
      <p:sp>
        <p:nvSpPr>
          <p:cNvPr id="5" name="problem card 1"/>
          <p:cNvSpPr/>
          <p:nvPr/>
        </p:nvSpPr>
        <p:spPr>
          <a:xfrm>
            <a:off x="5852160" y="1371600"/>
            <a:ext cx="5790895" cy="1417320"/>
          </a:xfrm>
          <a:prstGeom prst="roundRect">
            <a:avLst>
              <a:gd name="adj" fmla="val 7742"/>
            </a:avLst>
          </a:prstGeom>
          <a:solidFill>
            <a:schemeClr val="bg2"/>
          </a:solidFill>
          <a:ln w="12700">
            <a:solidFill>
              <a:schemeClr val="bg2"/>
            </a:solidFill>
            <a:prstDash val="solid"/>
          </a:ln>
        </p:spPr>
      </p:sp>
      <p:sp>
        <p:nvSpPr>
          <p:cNvPr id="6" name="problem 1 circle"/>
          <p:cNvSpPr/>
          <p:nvPr/>
        </p:nvSpPr>
        <p:spPr>
          <a:xfrm>
            <a:off x="6126480" y="1719072"/>
            <a:ext cx="731520" cy="731520"/>
          </a:xfrm>
          <a:prstGeom prst="ellipse">
            <a:avLst/>
          </a:prstGeom>
          <a:solidFill>
            <a:schemeClr val="accent1"/>
          </a:solidFill>
          <a:ln w="12700">
            <a:solidFill>
              <a:schemeClr val="accent1"/>
            </a:solidFill>
            <a:prstDash val="solid"/>
          </a:ln>
        </p:spPr>
      </p:sp>
      <p:pic>
        <p:nvPicPr>
          <p:cNvPr id="7" name="problem 1 glyph" descr="preencoded.png">    </p:cNvPr>
          <p:cNvPicPr>
            <a:picLocks noChangeAspect="1"/>
          </p:cNvPicPr>
          <p:nvPr/>
        </p:nvPicPr>
        <p:blipFill>
          <a:blip r:embed="rId2"/>
          <a:stretch>
            <a:fillRect/>
          </a:stretch>
        </p:blipFill>
        <p:spPr>
          <a:xfrm>
            <a:off x="6287414" y="1880006"/>
            <a:ext cx="409651" cy="409651"/>
          </a:xfrm>
          <a:prstGeom prst="rect">
            <a:avLst/>
          </a:prstGeom>
        </p:spPr>
      </p:pic>
      <p:sp>
        <p:nvSpPr>
          <p:cNvPr id="8" name="Text 4"/>
          <p:cNvSpPr txBox="1"/>
          <p:nvPr/>
        </p:nvSpPr>
        <p:spPr>
          <a:xfrm>
            <a:off x="7086600" y="1600200"/>
            <a:ext cx="4327855" cy="365760"/>
          </a:xfrm>
          <a:prstGeom prst="rect">
            <a:avLst/>
          </a:prstGeom>
          <a:noFill/>
          <a:ln/>
        </p:spPr>
        <p:txBody>
          <a:bodyPr wrap="square" lIns="0" tIns="0" rIns="0" bIns="0" rtlCol="0" anchor="t"/>
          <a:lstStyle/>
          <a:p>
            <a:pPr indent="0" marL="0">
              <a:buNone/>
            </a:pPr>
            <a:r>
              <a:rPr lang="en-US" sz="1800" b="1" dirty="0">
                <a:solidFill>
                  <a:schemeClr val="tx2"/>
                </a:solidFill>
              </a:rPr>
              <a:t>Colour cast</a:t>
            </a:r>
            <a:endParaRPr lang="en-US" sz="1800" dirty="0"/>
          </a:p>
        </p:txBody>
      </p:sp>
      <p:sp>
        <p:nvSpPr>
          <p:cNvPr id="9" name="Text 5"/>
          <p:cNvSpPr txBox="1"/>
          <p:nvPr/>
        </p:nvSpPr>
        <p:spPr>
          <a:xfrm>
            <a:off x="7086600" y="1993392"/>
            <a:ext cx="4327855" cy="685800"/>
          </a:xfrm>
          <a:prstGeom prst="rect">
            <a:avLst/>
          </a:prstGeom>
          <a:noFill/>
          <a:ln/>
        </p:spPr>
        <p:txBody>
          <a:bodyPr wrap="square" lIns="0" tIns="0" rIns="0" bIns="0" rtlCol="0" anchor="t"/>
          <a:lstStyle/>
          <a:p>
            <a:pPr indent="0" marL="0">
              <a:buNone/>
            </a:pPr>
            <a:r>
              <a:rPr lang="en-US" sz="1400" dirty="0">
                <a:solidFill>
                  <a:schemeClr val="tx1"/>
                </a:solidFill>
              </a:rPr>
              <a:t>Water absorbs red light first, then green. Images turn blue-green and lose their reds.</a:t>
            </a:r>
            <a:endParaRPr lang="en-US" sz="1400" dirty="0"/>
          </a:p>
        </p:txBody>
      </p:sp>
      <p:sp>
        <p:nvSpPr>
          <p:cNvPr id="10" name="problem card 2"/>
          <p:cNvSpPr/>
          <p:nvPr/>
        </p:nvSpPr>
        <p:spPr>
          <a:xfrm>
            <a:off x="5852160" y="3017520"/>
            <a:ext cx="5790895" cy="1417320"/>
          </a:xfrm>
          <a:prstGeom prst="roundRect">
            <a:avLst>
              <a:gd name="adj" fmla="val 7742"/>
            </a:avLst>
          </a:prstGeom>
          <a:solidFill>
            <a:schemeClr val="bg2"/>
          </a:solidFill>
          <a:ln w="12700">
            <a:solidFill>
              <a:schemeClr val="bg2"/>
            </a:solidFill>
            <a:prstDash val="solid"/>
          </a:ln>
        </p:spPr>
      </p:sp>
      <p:sp>
        <p:nvSpPr>
          <p:cNvPr id="11" name="problem 2 circle"/>
          <p:cNvSpPr/>
          <p:nvPr/>
        </p:nvSpPr>
        <p:spPr>
          <a:xfrm>
            <a:off x="6126480" y="3364992"/>
            <a:ext cx="731520" cy="731520"/>
          </a:xfrm>
          <a:prstGeom prst="ellipse">
            <a:avLst/>
          </a:prstGeom>
          <a:solidFill>
            <a:schemeClr val="accent1"/>
          </a:solidFill>
          <a:ln w="12700">
            <a:solidFill>
              <a:schemeClr val="accent1"/>
            </a:solidFill>
            <a:prstDash val="solid"/>
          </a:ln>
        </p:spPr>
      </p:sp>
      <p:pic>
        <p:nvPicPr>
          <p:cNvPr id="12" name="problem 2 glyph" descr="preencoded.png">    </p:cNvPr>
          <p:cNvPicPr>
            <a:picLocks noChangeAspect="1"/>
          </p:cNvPicPr>
          <p:nvPr/>
        </p:nvPicPr>
        <p:blipFill>
          <a:blip r:embed="rId3"/>
          <a:stretch>
            <a:fillRect/>
          </a:stretch>
        </p:blipFill>
        <p:spPr>
          <a:xfrm>
            <a:off x="6287414" y="3525926"/>
            <a:ext cx="409651" cy="409651"/>
          </a:xfrm>
          <a:prstGeom prst="rect">
            <a:avLst/>
          </a:prstGeom>
        </p:spPr>
      </p:pic>
      <p:sp>
        <p:nvSpPr>
          <p:cNvPr id="13" name="Text 8"/>
          <p:cNvSpPr txBox="1"/>
          <p:nvPr/>
        </p:nvSpPr>
        <p:spPr>
          <a:xfrm>
            <a:off x="7086600" y="3246120"/>
            <a:ext cx="4327855" cy="365760"/>
          </a:xfrm>
          <a:prstGeom prst="rect">
            <a:avLst/>
          </a:prstGeom>
          <a:noFill/>
          <a:ln/>
        </p:spPr>
        <p:txBody>
          <a:bodyPr wrap="square" lIns="0" tIns="0" rIns="0" bIns="0" rtlCol="0" anchor="t"/>
          <a:lstStyle/>
          <a:p>
            <a:pPr indent="0" marL="0">
              <a:buNone/>
            </a:pPr>
            <a:r>
              <a:rPr lang="en-US" sz="1800" b="1" dirty="0">
                <a:solidFill>
                  <a:schemeClr val="tx2"/>
                </a:solidFill>
              </a:rPr>
              <a:t>Haze</a:t>
            </a:r>
            <a:endParaRPr lang="en-US" sz="1800" dirty="0"/>
          </a:p>
        </p:txBody>
      </p:sp>
      <p:sp>
        <p:nvSpPr>
          <p:cNvPr id="14" name="Text 9"/>
          <p:cNvSpPr txBox="1"/>
          <p:nvPr/>
        </p:nvSpPr>
        <p:spPr>
          <a:xfrm>
            <a:off x="7086600" y="3639312"/>
            <a:ext cx="4327855" cy="685800"/>
          </a:xfrm>
          <a:prstGeom prst="rect">
            <a:avLst/>
          </a:prstGeom>
          <a:noFill/>
          <a:ln/>
        </p:spPr>
        <p:txBody>
          <a:bodyPr wrap="square" lIns="0" tIns="0" rIns="0" bIns="0" rtlCol="0" anchor="t"/>
          <a:lstStyle/>
          <a:p>
            <a:pPr indent="0" marL="0">
              <a:buNone/>
            </a:pPr>
            <a:r>
              <a:rPr lang="en-US" sz="1400" dirty="0">
                <a:solidFill>
                  <a:schemeClr val="tx1"/>
                </a:solidFill>
              </a:rPr>
              <a:t>Suspended particles scatter light toward the camera, adding a veil that thickens with distance.</a:t>
            </a:r>
            <a:endParaRPr lang="en-US" sz="1400" dirty="0"/>
          </a:p>
        </p:txBody>
      </p:sp>
      <p:sp>
        <p:nvSpPr>
          <p:cNvPr id="15" name="problem card 3"/>
          <p:cNvSpPr/>
          <p:nvPr/>
        </p:nvSpPr>
        <p:spPr>
          <a:xfrm>
            <a:off x="5852160" y="4663440"/>
            <a:ext cx="5790895" cy="1417320"/>
          </a:xfrm>
          <a:prstGeom prst="roundRect">
            <a:avLst>
              <a:gd name="adj" fmla="val 7742"/>
            </a:avLst>
          </a:prstGeom>
          <a:solidFill>
            <a:schemeClr val="bg2"/>
          </a:solidFill>
          <a:ln w="12700">
            <a:solidFill>
              <a:schemeClr val="bg2"/>
            </a:solidFill>
            <a:prstDash val="solid"/>
          </a:ln>
        </p:spPr>
      </p:sp>
      <p:sp>
        <p:nvSpPr>
          <p:cNvPr id="16" name="problem 3 circle"/>
          <p:cNvSpPr/>
          <p:nvPr/>
        </p:nvSpPr>
        <p:spPr>
          <a:xfrm>
            <a:off x="6126480" y="5010912"/>
            <a:ext cx="731520" cy="731520"/>
          </a:xfrm>
          <a:prstGeom prst="ellipse">
            <a:avLst/>
          </a:prstGeom>
          <a:solidFill>
            <a:schemeClr val="accent1"/>
          </a:solidFill>
          <a:ln w="12700">
            <a:solidFill>
              <a:schemeClr val="accent1"/>
            </a:solidFill>
            <a:prstDash val="solid"/>
          </a:ln>
        </p:spPr>
      </p:sp>
      <p:pic>
        <p:nvPicPr>
          <p:cNvPr id="17" name="problem 3 glyph" descr="preencoded.png">    </p:cNvPr>
          <p:cNvPicPr>
            <a:picLocks noChangeAspect="1"/>
          </p:cNvPicPr>
          <p:nvPr/>
        </p:nvPicPr>
        <p:blipFill>
          <a:blip r:embed="rId4"/>
          <a:stretch>
            <a:fillRect/>
          </a:stretch>
        </p:blipFill>
        <p:spPr>
          <a:xfrm>
            <a:off x="6287414" y="5171846"/>
            <a:ext cx="409651" cy="409651"/>
          </a:xfrm>
          <a:prstGeom prst="rect">
            <a:avLst/>
          </a:prstGeom>
        </p:spPr>
      </p:pic>
      <p:sp>
        <p:nvSpPr>
          <p:cNvPr id="18" name="Text 12"/>
          <p:cNvSpPr txBox="1"/>
          <p:nvPr/>
        </p:nvSpPr>
        <p:spPr>
          <a:xfrm>
            <a:off x="7086600" y="4892040"/>
            <a:ext cx="4327855" cy="365760"/>
          </a:xfrm>
          <a:prstGeom prst="rect">
            <a:avLst/>
          </a:prstGeom>
          <a:noFill/>
          <a:ln/>
        </p:spPr>
        <p:txBody>
          <a:bodyPr wrap="square" lIns="0" tIns="0" rIns="0" bIns="0" rtlCol="0" anchor="t"/>
          <a:lstStyle/>
          <a:p>
            <a:pPr indent="0" marL="0">
              <a:buNone/>
            </a:pPr>
            <a:r>
              <a:rPr lang="en-US" sz="1800" b="1" dirty="0">
                <a:solidFill>
                  <a:schemeClr val="tx2"/>
                </a:solidFill>
              </a:rPr>
              <a:t>Low light and flat contrast</a:t>
            </a:r>
            <a:endParaRPr lang="en-US" sz="1800" dirty="0"/>
          </a:p>
        </p:txBody>
      </p:sp>
      <p:sp>
        <p:nvSpPr>
          <p:cNvPr id="19" name="Text 13"/>
          <p:cNvSpPr txBox="1"/>
          <p:nvPr/>
        </p:nvSpPr>
        <p:spPr>
          <a:xfrm>
            <a:off x="7086600" y="5285232"/>
            <a:ext cx="4327855" cy="685800"/>
          </a:xfrm>
          <a:prstGeom prst="rect">
            <a:avLst/>
          </a:prstGeom>
          <a:noFill/>
          <a:ln/>
        </p:spPr>
        <p:txBody>
          <a:bodyPr wrap="square" lIns="0" tIns="0" rIns="0" bIns="0" rtlCol="0" anchor="t"/>
          <a:lstStyle/>
          <a:p>
            <a:pPr indent="0" marL="0">
              <a:buNone/>
            </a:pPr>
            <a:r>
              <a:rPr lang="en-US" sz="1400" dirty="0">
                <a:solidFill>
                  <a:schemeClr val="tx1"/>
                </a:solidFill>
              </a:rPr>
              <a:t>Light fades with depth and scattering flattens tones, hiding texture and detail.</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Our goal and what is new</a:t>
            </a:r>
            <a:endParaRPr lang="en-US" sz="3200" dirty="0"/>
          </a:p>
        </p:txBody>
      </p:sp>
      <p:sp>
        <p:nvSpPr>
          <p:cNvPr id="3" name="goal"/>
          <p:cNvSpPr txBox="1"/>
          <p:nvPr/>
        </p:nvSpPr>
        <p:spPr>
          <a:xfrm>
            <a:off x="548640" y="1280160"/>
            <a:ext cx="11094415" cy="731520"/>
          </a:xfrm>
          <a:prstGeom prst="rect">
            <a:avLst/>
          </a:prstGeom>
          <a:noFill/>
          <a:ln/>
        </p:spPr>
        <p:txBody>
          <a:bodyPr wrap="square" lIns="0" tIns="0" rIns="0" bIns="0" rtlCol="0" anchor="t"/>
          <a:lstStyle/>
          <a:p>
            <a:pPr indent="0" marL="0">
              <a:buNone/>
            </a:pPr>
            <a:r>
              <a:rPr lang="en-US" sz="1800" dirty="0">
                <a:solidFill>
                  <a:schemeClr val="tx1"/>
                </a:solidFill>
              </a:rPr>
              <a:t>Restore underwater images with classical image processing only, adapt every stage to the type of water, and prove each gain on images never used for tuning.</a:t>
            </a:r>
            <a:endParaRPr lang="en-US" sz="1800" dirty="0"/>
          </a:p>
        </p:txBody>
      </p:sp>
      <p:sp>
        <p:nvSpPr>
          <p:cNvPr id="4" name="contribution card 1"/>
          <p:cNvSpPr/>
          <p:nvPr/>
        </p:nvSpPr>
        <p:spPr>
          <a:xfrm>
            <a:off x="548640" y="2240280"/>
            <a:ext cx="3515258" cy="3429000"/>
          </a:xfrm>
          <a:prstGeom prst="roundRect">
            <a:avLst>
              <a:gd name="adj" fmla="val 3200"/>
            </a:avLst>
          </a:prstGeom>
          <a:solidFill>
            <a:schemeClr val="bg2"/>
          </a:solidFill>
          <a:ln w="12700">
            <a:solidFill>
              <a:schemeClr val="bg2"/>
            </a:solidFill>
            <a:prstDash val="solid"/>
          </a:ln>
        </p:spPr>
      </p:sp>
      <p:sp>
        <p:nvSpPr>
          <p:cNvPr id="5" name="contribution 1 circle"/>
          <p:cNvSpPr/>
          <p:nvPr/>
        </p:nvSpPr>
        <p:spPr>
          <a:xfrm>
            <a:off x="868680" y="2560320"/>
            <a:ext cx="777240" cy="777240"/>
          </a:xfrm>
          <a:prstGeom prst="ellipse">
            <a:avLst/>
          </a:prstGeom>
          <a:solidFill>
            <a:schemeClr val="accent1"/>
          </a:solidFill>
          <a:ln w="12700">
            <a:solidFill>
              <a:schemeClr val="accent1"/>
            </a:solidFill>
            <a:prstDash val="solid"/>
          </a:ln>
        </p:spPr>
      </p:sp>
      <p:pic>
        <p:nvPicPr>
          <p:cNvPr id="6" name="contribution 1 glyph" descr="preencoded.png">    </p:cNvPr>
          <p:cNvPicPr>
            <a:picLocks noChangeAspect="1"/>
          </p:cNvPicPr>
          <p:nvPr/>
        </p:nvPicPr>
        <p:blipFill>
          <a:blip r:embed="rId1"/>
          <a:stretch>
            <a:fillRect/>
          </a:stretch>
        </p:blipFill>
        <p:spPr>
          <a:xfrm>
            <a:off x="1039673" y="2731313"/>
            <a:ext cx="435254" cy="435254"/>
          </a:xfrm>
          <a:prstGeom prst="rect">
            <a:avLst/>
          </a:prstGeom>
        </p:spPr>
      </p:pic>
      <p:sp>
        <p:nvSpPr>
          <p:cNvPr id="7" name="Text 4"/>
          <p:cNvSpPr txBox="1"/>
          <p:nvPr/>
        </p:nvSpPr>
        <p:spPr>
          <a:xfrm>
            <a:off x="1828800" y="2743200"/>
            <a:ext cx="2052218"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MODULE 5</a:t>
            </a:r>
            <a:endParaRPr lang="en-US" sz="1200" dirty="0"/>
          </a:p>
        </p:txBody>
      </p:sp>
      <p:sp>
        <p:nvSpPr>
          <p:cNvPr id="8" name="Text 5"/>
          <p:cNvSpPr txBox="1"/>
          <p:nvPr/>
        </p:nvSpPr>
        <p:spPr>
          <a:xfrm>
            <a:off x="868680" y="3566160"/>
            <a:ext cx="2875178" cy="731520"/>
          </a:xfrm>
          <a:prstGeom prst="rect">
            <a:avLst/>
          </a:prstGeom>
          <a:noFill/>
          <a:ln/>
        </p:spPr>
        <p:txBody>
          <a:bodyPr wrap="square" lIns="0" tIns="0" rIns="0" bIns="0" rtlCol="0" anchor="t"/>
          <a:lstStyle/>
          <a:p>
            <a:pPr indent="0" marL="0">
              <a:buNone/>
            </a:pPr>
            <a:r>
              <a:rPr lang="en-US" sz="1800" b="1" dirty="0">
                <a:solidFill>
                  <a:schemeClr val="tx2"/>
                </a:solidFill>
              </a:rPr>
              <a:t>Water-type routing + red compensation</a:t>
            </a:r>
            <a:endParaRPr lang="en-US" sz="1800" dirty="0"/>
          </a:p>
        </p:txBody>
      </p:sp>
      <p:sp>
        <p:nvSpPr>
          <p:cNvPr id="9" name="Text 6"/>
          <p:cNvSpPr txBox="1"/>
          <p:nvPr/>
        </p:nvSpPr>
        <p:spPr>
          <a:xfrm>
            <a:off x="868680" y="4343400"/>
            <a:ext cx="2875178" cy="1234440"/>
          </a:xfrm>
          <a:prstGeom prst="rect">
            <a:avLst/>
          </a:prstGeom>
          <a:noFill/>
          <a:ln/>
        </p:spPr>
        <p:txBody>
          <a:bodyPr wrap="square" lIns="0" tIns="0" rIns="0" bIns="0" rtlCol="0" anchor="t"/>
          <a:lstStyle/>
          <a:p>
            <a:pPr indent="0" marL="0">
              <a:buNone/>
            </a:pPr>
            <a:r>
              <a:rPr lang="en-US" sz="1400" dirty="0">
                <a:solidFill>
                  <a:schemeClr val="tx1"/>
                </a:solidFill>
              </a:rPr>
              <a:t>Classifies each image as clear blue, green turbid, deep low-light or hazy bright, then sets how strongly every stage acts, including how much red to restore.</a:t>
            </a:r>
            <a:endParaRPr lang="en-US" sz="1400" dirty="0"/>
          </a:p>
        </p:txBody>
      </p:sp>
      <p:sp>
        <p:nvSpPr>
          <p:cNvPr id="10" name="contribution card 2"/>
          <p:cNvSpPr/>
          <p:nvPr/>
        </p:nvSpPr>
        <p:spPr>
          <a:xfrm>
            <a:off x="4338218" y="2240280"/>
            <a:ext cx="3515258" cy="3429000"/>
          </a:xfrm>
          <a:prstGeom prst="roundRect">
            <a:avLst>
              <a:gd name="adj" fmla="val 3200"/>
            </a:avLst>
          </a:prstGeom>
          <a:solidFill>
            <a:schemeClr val="bg2"/>
          </a:solidFill>
          <a:ln w="12700">
            <a:solidFill>
              <a:schemeClr val="bg2"/>
            </a:solidFill>
            <a:prstDash val="solid"/>
          </a:ln>
        </p:spPr>
      </p:sp>
      <p:sp>
        <p:nvSpPr>
          <p:cNvPr id="11" name="contribution 2 circle"/>
          <p:cNvSpPr/>
          <p:nvPr/>
        </p:nvSpPr>
        <p:spPr>
          <a:xfrm>
            <a:off x="4658258" y="2560320"/>
            <a:ext cx="777240" cy="777240"/>
          </a:xfrm>
          <a:prstGeom prst="ellipse">
            <a:avLst/>
          </a:prstGeom>
          <a:solidFill>
            <a:schemeClr val="accent1"/>
          </a:solidFill>
          <a:ln w="12700">
            <a:solidFill>
              <a:schemeClr val="accent1"/>
            </a:solidFill>
            <a:prstDash val="solid"/>
          </a:ln>
        </p:spPr>
      </p:sp>
      <p:pic>
        <p:nvPicPr>
          <p:cNvPr id="12" name="contribution 2 glyph" descr="preencoded.png">    </p:cNvPr>
          <p:cNvPicPr>
            <a:picLocks noChangeAspect="1"/>
          </p:cNvPicPr>
          <p:nvPr/>
        </p:nvPicPr>
        <p:blipFill>
          <a:blip r:embed="rId2"/>
          <a:stretch>
            <a:fillRect/>
          </a:stretch>
        </p:blipFill>
        <p:spPr>
          <a:xfrm>
            <a:off x="4829251" y="2731313"/>
            <a:ext cx="435254" cy="435254"/>
          </a:xfrm>
          <a:prstGeom prst="rect">
            <a:avLst/>
          </a:prstGeom>
        </p:spPr>
      </p:pic>
      <p:sp>
        <p:nvSpPr>
          <p:cNvPr id="13" name="Text 9"/>
          <p:cNvSpPr txBox="1"/>
          <p:nvPr/>
        </p:nvSpPr>
        <p:spPr>
          <a:xfrm>
            <a:off x="5618378" y="2743200"/>
            <a:ext cx="2052218"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MODULE 7</a:t>
            </a:r>
            <a:endParaRPr lang="en-US" sz="1200" dirty="0"/>
          </a:p>
        </p:txBody>
      </p:sp>
      <p:sp>
        <p:nvSpPr>
          <p:cNvPr id="14" name="Text 10"/>
          <p:cNvSpPr txBox="1"/>
          <p:nvPr/>
        </p:nvSpPr>
        <p:spPr>
          <a:xfrm>
            <a:off x="4658258" y="3566160"/>
            <a:ext cx="2875178" cy="731520"/>
          </a:xfrm>
          <a:prstGeom prst="rect">
            <a:avLst/>
          </a:prstGeom>
          <a:noFill/>
          <a:ln/>
        </p:spPr>
        <p:txBody>
          <a:bodyPr wrap="square" lIns="0" tIns="0" rIns="0" bIns="0" rtlCol="0" anchor="t"/>
          <a:lstStyle/>
          <a:p>
            <a:pPr indent="0" marL="0">
              <a:buNone/>
            </a:pPr>
            <a:r>
              <a:rPr lang="en-US" sz="1800" b="1" dirty="0">
                <a:solidFill>
                  <a:schemeClr val="tx2"/>
                </a:solidFill>
              </a:rPr>
              <a:t>Per-image fusion weight</a:t>
            </a:r>
            <a:endParaRPr lang="en-US" sz="1800" dirty="0"/>
          </a:p>
        </p:txBody>
      </p:sp>
      <p:sp>
        <p:nvSpPr>
          <p:cNvPr id="15" name="Text 11"/>
          <p:cNvSpPr txBox="1"/>
          <p:nvPr/>
        </p:nvSpPr>
        <p:spPr>
          <a:xfrm>
            <a:off x="4658258" y="4343400"/>
            <a:ext cx="2875178" cy="1234440"/>
          </a:xfrm>
          <a:prstGeom prst="rect">
            <a:avLst/>
          </a:prstGeom>
          <a:noFill/>
          <a:ln/>
        </p:spPr>
        <p:txBody>
          <a:bodyPr wrap="square" lIns="0" tIns="0" rIns="0" bIns="0" rtlCol="0" anchor="t"/>
          <a:lstStyle/>
          <a:p>
            <a:pPr indent="0" marL="0">
              <a:buNone/>
            </a:pPr>
            <a:r>
              <a:rPr lang="en-US" sz="1400" dirty="0">
                <a:solidFill>
                  <a:schemeClr val="tx1"/>
                </a:solidFill>
              </a:rPr>
              <a:t>Predicts how to blend a detail stream with a dehazed stream for each image, from 26 no-reference image statistics.</a:t>
            </a:r>
            <a:endParaRPr lang="en-US" sz="1400" dirty="0"/>
          </a:p>
        </p:txBody>
      </p:sp>
      <p:sp>
        <p:nvSpPr>
          <p:cNvPr id="16" name="contribution card 3"/>
          <p:cNvSpPr/>
          <p:nvPr/>
        </p:nvSpPr>
        <p:spPr>
          <a:xfrm>
            <a:off x="8127797" y="2240280"/>
            <a:ext cx="3515258" cy="3429000"/>
          </a:xfrm>
          <a:prstGeom prst="roundRect">
            <a:avLst>
              <a:gd name="adj" fmla="val 3200"/>
            </a:avLst>
          </a:prstGeom>
          <a:solidFill>
            <a:schemeClr val="bg2"/>
          </a:solidFill>
          <a:ln w="12700">
            <a:solidFill>
              <a:schemeClr val="bg2"/>
            </a:solidFill>
            <a:prstDash val="solid"/>
          </a:ln>
        </p:spPr>
      </p:sp>
      <p:sp>
        <p:nvSpPr>
          <p:cNvPr id="17" name="contribution 3 circle"/>
          <p:cNvSpPr/>
          <p:nvPr/>
        </p:nvSpPr>
        <p:spPr>
          <a:xfrm>
            <a:off x="8447837" y="2560320"/>
            <a:ext cx="777240" cy="777240"/>
          </a:xfrm>
          <a:prstGeom prst="ellipse">
            <a:avLst/>
          </a:prstGeom>
          <a:solidFill>
            <a:schemeClr val="accent1"/>
          </a:solidFill>
          <a:ln w="12700">
            <a:solidFill>
              <a:schemeClr val="accent1"/>
            </a:solidFill>
            <a:prstDash val="solid"/>
          </a:ln>
        </p:spPr>
      </p:sp>
      <p:pic>
        <p:nvPicPr>
          <p:cNvPr id="18" name="contribution 3 glyph" descr="preencoded.png">    </p:cNvPr>
          <p:cNvPicPr>
            <a:picLocks noChangeAspect="1"/>
          </p:cNvPicPr>
          <p:nvPr/>
        </p:nvPicPr>
        <p:blipFill>
          <a:blip r:embed="rId3"/>
          <a:stretch>
            <a:fillRect/>
          </a:stretch>
        </p:blipFill>
        <p:spPr>
          <a:xfrm>
            <a:off x="8618830" y="2731313"/>
            <a:ext cx="435254" cy="435254"/>
          </a:xfrm>
          <a:prstGeom prst="rect">
            <a:avLst/>
          </a:prstGeom>
        </p:spPr>
      </p:pic>
      <p:sp>
        <p:nvSpPr>
          <p:cNvPr id="19" name="Text 14"/>
          <p:cNvSpPr txBox="1"/>
          <p:nvPr/>
        </p:nvSpPr>
        <p:spPr>
          <a:xfrm>
            <a:off x="9407957" y="2743200"/>
            <a:ext cx="2052218"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MODULE 9</a:t>
            </a:r>
            <a:endParaRPr lang="en-US" sz="1200" dirty="0"/>
          </a:p>
        </p:txBody>
      </p:sp>
      <p:sp>
        <p:nvSpPr>
          <p:cNvPr id="20" name="Text 15"/>
          <p:cNvSpPr txBox="1"/>
          <p:nvPr/>
        </p:nvSpPr>
        <p:spPr>
          <a:xfrm>
            <a:off x="8447837" y="3566160"/>
            <a:ext cx="2875178" cy="731520"/>
          </a:xfrm>
          <a:prstGeom prst="rect">
            <a:avLst/>
          </a:prstGeom>
          <a:noFill/>
          <a:ln/>
        </p:spPr>
        <p:txBody>
          <a:bodyPr wrap="square" lIns="0" tIns="0" rIns="0" bIns="0" rtlCol="0" anchor="t"/>
          <a:lstStyle/>
          <a:p>
            <a:pPr indent="0" marL="0">
              <a:buNone/>
            </a:pPr>
            <a:r>
              <a:rPr lang="en-US" sz="1800" b="1" dirty="0">
                <a:solidFill>
                  <a:schemeClr val="tx2"/>
                </a:solidFill>
              </a:rPr>
              <a:t>Downstream validation</a:t>
            </a:r>
            <a:endParaRPr lang="en-US" sz="1800" dirty="0"/>
          </a:p>
        </p:txBody>
      </p:sp>
      <p:sp>
        <p:nvSpPr>
          <p:cNvPr id="21" name="Text 16"/>
          <p:cNvSpPr txBox="1"/>
          <p:nvPr/>
        </p:nvSpPr>
        <p:spPr>
          <a:xfrm>
            <a:off x="8447837" y="4343400"/>
            <a:ext cx="2875178" cy="1234440"/>
          </a:xfrm>
          <a:prstGeom prst="rect">
            <a:avLst/>
          </a:prstGeom>
          <a:noFill/>
          <a:ln/>
        </p:spPr>
        <p:txBody>
          <a:bodyPr wrap="square" lIns="0" tIns="0" rIns="0" bIns="0" rtlCol="0" anchor="t"/>
          <a:lstStyle/>
          <a:p>
            <a:pPr indent="0" marL="0">
              <a:buNone/>
            </a:pPr>
            <a:r>
              <a:rPr lang="en-US" sz="1400" dirty="0">
                <a:solidFill>
                  <a:schemeClr val="tx1"/>
                </a:solidFill>
              </a:rPr>
              <a:t>Checks whether restoration helps computer vision, not just appearance: ORB keypoints, matches and edge density.</a:t>
            </a:r>
            <a:endParaRPr lang="en-US" sz="1400" dirty="0"/>
          </a:p>
        </p:txBody>
      </p:sp>
      <p:sp>
        <p:nvSpPr>
          <p:cNvPr id="22" name="finding teaser"/>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400" i="1" dirty="0">
                <a:solidFill>
                  <a:schemeClr val="accent5"/>
                </a:solidFill>
              </a:rPr>
              <a:t>Plus a finding: popular no-reference quality scores (UCIQE, UIQM) mislead when used to tune a restoration pipeline.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pipeline at a glance</a:t>
            </a:r>
            <a:endParaRPr lang="en-US" sz="3200" dirty="0"/>
          </a:p>
        </p:txBody>
      </p:sp>
      <p:pic>
        <p:nvPicPr>
          <p:cNvPr id="3" name="flow raw" descr="scripts/presentation/build/img/794_img__raw.jpg">    </p:cNvPr>
          <p:cNvPicPr>
            <a:picLocks noChangeAspect="1"/>
          </p:cNvPicPr>
          <p:nvPr/>
        </p:nvPicPr>
        <p:blipFill>
          <a:blip r:embed="rId1"/>
          <a:stretch>
            <a:fillRect/>
          </a:stretch>
        </p:blipFill>
        <p:spPr>
          <a:xfrm>
            <a:off x="548640" y="2452864"/>
            <a:ext cx="1349785" cy="946431"/>
          </a:xfrm>
          <a:prstGeom prst="rect">
            <a:avLst/>
          </a:prstGeom>
        </p:spPr>
      </p:pic>
      <p:sp>
        <p:nvSpPr>
          <p:cNvPr id="4" name="flow routing"/>
          <p:cNvSpPr/>
          <p:nvPr/>
        </p:nvSpPr>
        <p:spPr>
          <a:xfrm>
            <a:off x="2172745" y="2286000"/>
            <a:ext cx="1349785" cy="1280160"/>
          </a:xfrm>
          <a:prstGeom prst="roundRect">
            <a:avLst>
              <a:gd name="adj" fmla="val 7143"/>
            </a:avLst>
          </a:prstGeom>
          <a:solidFill>
            <a:schemeClr val="accent1"/>
          </a:solidFill>
          <a:ln w="12700">
            <a:solidFill>
              <a:schemeClr val="accent1"/>
            </a:solidFill>
            <a:prstDash val="solid"/>
          </a:ln>
        </p:spPr>
      </p:sp>
      <p:sp>
        <p:nvSpPr>
          <p:cNvPr id="5" name="flow routing label"/>
          <p:cNvSpPr txBox="1"/>
          <p:nvPr/>
        </p:nvSpPr>
        <p:spPr>
          <a:xfrm>
            <a:off x="2245897" y="2286000"/>
            <a:ext cx="1203481" cy="1280160"/>
          </a:xfrm>
          <a:prstGeom prst="rect">
            <a:avLst/>
          </a:prstGeom>
          <a:noFill/>
          <a:ln/>
        </p:spPr>
        <p:txBody>
          <a:bodyPr wrap="square" lIns="0" tIns="0" rIns="0" bIns="0" rtlCol="0" anchor="ctr"/>
          <a:lstStyle/>
          <a:p>
            <a:pPr algn="ctr" indent="0" marL="0">
              <a:buNone/>
            </a:pPr>
            <a:r>
              <a:rPr lang="en-US" sz="1300" b="1" dirty="0">
                <a:solidFill>
                  <a:schemeClr val="bg1"/>
                </a:solidFill>
              </a:rPr>
              <a:t>0 · Water-type routing ★</a:t>
            </a:r>
            <a:endParaRPr lang="en-US" sz="1300" dirty="0"/>
          </a:p>
        </p:txBody>
      </p:sp>
      <p:sp>
        <p:nvSpPr>
          <p:cNvPr id="6" name="flow correction"/>
          <p:cNvSpPr/>
          <p:nvPr/>
        </p:nvSpPr>
        <p:spPr>
          <a:xfrm>
            <a:off x="3796850" y="2286000"/>
            <a:ext cx="1349785" cy="1280160"/>
          </a:xfrm>
          <a:prstGeom prst="roundRect">
            <a:avLst>
              <a:gd name="adj" fmla="val 7143"/>
            </a:avLst>
          </a:prstGeom>
          <a:solidFill>
            <a:schemeClr val="bg2"/>
          </a:solidFill>
          <a:ln w="12700">
            <a:solidFill>
              <a:schemeClr val="bg2"/>
            </a:solidFill>
            <a:prstDash val="solid"/>
          </a:ln>
        </p:spPr>
      </p:sp>
      <p:sp>
        <p:nvSpPr>
          <p:cNvPr id="7" name="flow correction label"/>
          <p:cNvSpPr txBox="1"/>
          <p:nvPr/>
        </p:nvSpPr>
        <p:spPr>
          <a:xfrm>
            <a:off x="3870002" y="2286000"/>
            <a:ext cx="1203481" cy="1280160"/>
          </a:xfrm>
          <a:prstGeom prst="rect">
            <a:avLst/>
          </a:prstGeom>
          <a:noFill/>
          <a:ln/>
        </p:spPr>
        <p:txBody>
          <a:bodyPr wrap="square" lIns="0" tIns="0" rIns="0" bIns="0" rtlCol="0" anchor="ctr"/>
          <a:lstStyle/>
          <a:p>
            <a:pPr algn="ctr" indent="0" marL="0">
              <a:buNone/>
            </a:pPr>
            <a:r>
              <a:rPr lang="en-US" sz="1300" b="1" dirty="0">
                <a:solidFill>
                  <a:schemeClr val="tx2"/>
                </a:solidFill>
              </a:rPr>
              <a:t>1–3 · Red comp. · white balance · gamma</a:t>
            </a:r>
            <a:endParaRPr lang="en-US" sz="1300" dirty="0"/>
          </a:p>
        </p:txBody>
      </p:sp>
      <p:sp>
        <p:nvSpPr>
          <p:cNvPr id="8" name="flow clahe"/>
          <p:cNvSpPr/>
          <p:nvPr/>
        </p:nvSpPr>
        <p:spPr>
          <a:xfrm>
            <a:off x="5420955" y="1874520"/>
            <a:ext cx="1349785" cy="914400"/>
          </a:xfrm>
          <a:prstGeom prst="roundRect">
            <a:avLst>
              <a:gd name="adj" fmla="val 10000"/>
            </a:avLst>
          </a:prstGeom>
          <a:solidFill>
            <a:schemeClr val="bg2"/>
          </a:solidFill>
          <a:ln w="12700">
            <a:solidFill>
              <a:schemeClr val="bg2"/>
            </a:solidFill>
            <a:prstDash val="solid"/>
          </a:ln>
        </p:spPr>
      </p:sp>
      <p:sp>
        <p:nvSpPr>
          <p:cNvPr id="9" name="flow clahe label"/>
          <p:cNvSpPr txBox="1"/>
          <p:nvPr/>
        </p:nvSpPr>
        <p:spPr>
          <a:xfrm>
            <a:off x="5494107" y="1874520"/>
            <a:ext cx="1203481" cy="914400"/>
          </a:xfrm>
          <a:prstGeom prst="rect">
            <a:avLst/>
          </a:prstGeom>
          <a:noFill/>
          <a:ln/>
        </p:spPr>
        <p:txBody>
          <a:bodyPr wrap="square" lIns="0" tIns="0" rIns="0" bIns="0" rtlCol="0" anchor="ctr"/>
          <a:lstStyle/>
          <a:p>
            <a:pPr algn="ctr" indent="0" marL="0">
              <a:buNone/>
            </a:pPr>
            <a:r>
              <a:rPr lang="en-US" sz="1300" b="1" dirty="0">
                <a:solidFill>
                  <a:schemeClr val="tx2"/>
                </a:solidFill>
              </a:rPr>
              <a:t>4a · CLAHE detail stream</a:t>
            </a:r>
            <a:endParaRPr lang="en-US" sz="1300" dirty="0"/>
          </a:p>
        </p:txBody>
      </p:sp>
      <p:sp>
        <p:nvSpPr>
          <p:cNvPr id="10" name="flow udcp"/>
          <p:cNvSpPr/>
          <p:nvPr/>
        </p:nvSpPr>
        <p:spPr>
          <a:xfrm>
            <a:off x="5420955" y="3063240"/>
            <a:ext cx="1349785" cy="914400"/>
          </a:xfrm>
          <a:prstGeom prst="roundRect">
            <a:avLst>
              <a:gd name="adj" fmla="val 10000"/>
            </a:avLst>
          </a:prstGeom>
          <a:solidFill>
            <a:schemeClr val="bg2"/>
          </a:solidFill>
          <a:ln w="12700">
            <a:solidFill>
              <a:schemeClr val="bg2"/>
            </a:solidFill>
            <a:prstDash val="solid"/>
          </a:ln>
        </p:spPr>
      </p:sp>
      <p:sp>
        <p:nvSpPr>
          <p:cNvPr id="11" name="flow udcp label"/>
          <p:cNvSpPr txBox="1"/>
          <p:nvPr/>
        </p:nvSpPr>
        <p:spPr>
          <a:xfrm>
            <a:off x="5494107" y="3063240"/>
            <a:ext cx="1203481" cy="914400"/>
          </a:xfrm>
          <a:prstGeom prst="rect">
            <a:avLst/>
          </a:prstGeom>
          <a:noFill/>
          <a:ln/>
        </p:spPr>
        <p:txBody>
          <a:bodyPr wrap="square" lIns="0" tIns="0" rIns="0" bIns="0" rtlCol="0" anchor="ctr"/>
          <a:lstStyle/>
          <a:p>
            <a:pPr algn="ctr" indent="0" marL="0">
              <a:buNone/>
            </a:pPr>
            <a:r>
              <a:rPr lang="en-US" sz="1300" b="1" dirty="0">
                <a:solidFill>
                  <a:schemeClr val="tx2"/>
                </a:solidFill>
              </a:rPr>
              <a:t>4b · Dehazed stream (UDCP)</a:t>
            </a:r>
            <a:endParaRPr lang="en-US" sz="1300" dirty="0"/>
          </a:p>
        </p:txBody>
      </p:sp>
      <p:sp>
        <p:nvSpPr>
          <p:cNvPr id="12" name="flow alpha"/>
          <p:cNvSpPr/>
          <p:nvPr/>
        </p:nvSpPr>
        <p:spPr>
          <a:xfrm>
            <a:off x="7045060" y="2286000"/>
            <a:ext cx="1349785" cy="1280160"/>
          </a:xfrm>
          <a:prstGeom prst="roundRect">
            <a:avLst>
              <a:gd name="adj" fmla="val 7143"/>
            </a:avLst>
          </a:prstGeom>
          <a:solidFill>
            <a:schemeClr val="accent1"/>
          </a:solidFill>
          <a:ln w="12700">
            <a:solidFill>
              <a:schemeClr val="accent1"/>
            </a:solidFill>
            <a:prstDash val="solid"/>
          </a:ln>
        </p:spPr>
      </p:sp>
      <p:sp>
        <p:nvSpPr>
          <p:cNvPr id="13" name="flow alpha label"/>
          <p:cNvSpPr txBox="1"/>
          <p:nvPr/>
        </p:nvSpPr>
        <p:spPr>
          <a:xfrm>
            <a:off x="7118212" y="2286000"/>
            <a:ext cx="1203481" cy="1280160"/>
          </a:xfrm>
          <a:prstGeom prst="rect">
            <a:avLst/>
          </a:prstGeom>
          <a:noFill/>
          <a:ln/>
        </p:spPr>
        <p:txBody>
          <a:bodyPr wrap="square" lIns="0" tIns="0" rIns="0" bIns="0" rtlCol="0" anchor="ctr"/>
          <a:lstStyle/>
          <a:p>
            <a:pPr algn="ctr" indent="0" marL="0">
              <a:buNone/>
            </a:pPr>
            <a:r>
              <a:rPr lang="en-US" sz="1300" b="1" dirty="0">
                <a:solidFill>
                  <a:schemeClr val="bg1"/>
                </a:solidFill>
              </a:rPr>
              <a:t>5 · Fusion weight α ★</a:t>
            </a:r>
            <a:endParaRPr lang="en-US" sz="1300" dirty="0"/>
          </a:p>
        </p:txBody>
      </p:sp>
      <p:sp>
        <p:nvSpPr>
          <p:cNvPr id="14" name="flow fusion"/>
          <p:cNvSpPr/>
          <p:nvPr/>
        </p:nvSpPr>
        <p:spPr>
          <a:xfrm>
            <a:off x="8669165" y="2286000"/>
            <a:ext cx="1349785" cy="1280160"/>
          </a:xfrm>
          <a:prstGeom prst="roundRect">
            <a:avLst>
              <a:gd name="adj" fmla="val 7143"/>
            </a:avLst>
          </a:prstGeom>
          <a:solidFill>
            <a:schemeClr val="bg2"/>
          </a:solidFill>
          <a:ln w="12700">
            <a:solidFill>
              <a:schemeClr val="bg2"/>
            </a:solidFill>
            <a:prstDash val="solid"/>
          </a:ln>
        </p:spPr>
      </p:sp>
      <p:sp>
        <p:nvSpPr>
          <p:cNvPr id="15" name="flow fusion label"/>
          <p:cNvSpPr txBox="1"/>
          <p:nvPr/>
        </p:nvSpPr>
        <p:spPr>
          <a:xfrm>
            <a:off x="8742317" y="2286000"/>
            <a:ext cx="1203481" cy="1280160"/>
          </a:xfrm>
          <a:prstGeom prst="rect">
            <a:avLst/>
          </a:prstGeom>
          <a:noFill/>
          <a:ln/>
        </p:spPr>
        <p:txBody>
          <a:bodyPr wrap="square" lIns="0" tIns="0" rIns="0" bIns="0" rtlCol="0" anchor="ctr"/>
          <a:lstStyle/>
          <a:p>
            <a:pPr algn="ctr" indent="0" marL="0">
              <a:buNone/>
            </a:pPr>
            <a:r>
              <a:rPr lang="en-US" sz="1300" b="1" dirty="0">
                <a:solidFill>
                  <a:schemeClr val="tx2"/>
                </a:solidFill>
              </a:rPr>
              <a:t>6 · Pyramid fusion</a:t>
            </a:r>
            <a:endParaRPr lang="en-US" sz="1300" dirty="0"/>
          </a:p>
        </p:txBody>
      </p:sp>
      <p:pic>
        <p:nvPicPr>
          <p:cNvPr id="16" name="flow restored" descr="scripts/presentation/build/img/794_img__proposed_hybrid.jpg">    </p:cNvPr>
          <p:cNvPicPr>
            <a:picLocks noChangeAspect="1"/>
          </p:cNvPicPr>
          <p:nvPr/>
        </p:nvPicPr>
        <p:blipFill>
          <a:blip r:embed="rId2"/>
          <a:stretch>
            <a:fillRect/>
          </a:stretch>
        </p:blipFill>
        <p:spPr>
          <a:xfrm>
            <a:off x="10293270" y="2452864"/>
            <a:ext cx="1349785" cy="946431"/>
          </a:xfrm>
          <a:prstGeom prst="rect">
            <a:avLst/>
          </a:prstGeom>
        </p:spPr>
      </p:pic>
      <p:sp>
        <p:nvSpPr>
          <p:cNvPr id="17" name="arrow 0"/>
          <p:cNvSpPr/>
          <p:nvPr/>
        </p:nvSpPr>
        <p:spPr>
          <a:xfrm>
            <a:off x="1935001" y="2926080"/>
            <a:ext cx="201168" cy="914"/>
          </a:xfrm>
          <a:prstGeom prst="line">
            <a:avLst/>
          </a:prstGeom>
          <a:noFill/>
          <a:ln w="19050">
            <a:solidFill>
              <a:schemeClr val="accent5"/>
            </a:solidFill>
            <a:prstDash val="solid"/>
            <a:tailEnd type="triangle"/>
          </a:ln>
        </p:spPr>
      </p:sp>
      <p:sp>
        <p:nvSpPr>
          <p:cNvPr id="18" name="arrow 1"/>
          <p:cNvSpPr/>
          <p:nvPr/>
        </p:nvSpPr>
        <p:spPr>
          <a:xfrm>
            <a:off x="3559106" y="2926080"/>
            <a:ext cx="201168" cy="914"/>
          </a:xfrm>
          <a:prstGeom prst="line">
            <a:avLst/>
          </a:prstGeom>
          <a:noFill/>
          <a:ln w="19050">
            <a:solidFill>
              <a:schemeClr val="accent5"/>
            </a:solidFill>
            <a:prstDash val="solid"/>
            <a:tailEnd type="triangle"/>
          </a:ln>
        </p:spPr>
      </p:sp>
      <p:sp>
        <p:nvSpPr>
          <p:cNvPr id="19" name="arrow 4"/>
          <p:cNvSpPr/>
          <p:nvPr/>
        </p:nvSpPr>
        <p:spPr>
          <a:xfrm>
            <a:off x="8431421" y="2926080"/>
            <a:ext cx="201168" cy="914"/>
          </a:xfrm>
          <a:prstGeom prst="line">
            <a:avLst/>
          </a:prstGeom>
          <a:noFill/>
          <a:ln w="19050">
            <a:solidFill>
              <a:schemeClr val="accent5"/>
            </a:solidFill>
            <a:prstDash val="solid"/>
            <a:tailEnd type="triangle"/>
          </a:ln>
        </p:spPr>
      </p:sp>
      <p:sp>
        <p:nvSpPr>
          <p:cNvPr id="20" name="arrow 5"/>
          <p:cNvSpPr/>
          <p:nvPr/>
        </p:nvSpPr>
        <p:spPr>
          <a:xfrm>
            <a:off x="10055526" y="2926080"/>
            <a:ext cx="201168" cy="914"/>
          </a:xfrm>
          <a:prstGeom prst="line">
            <a:avLst/>
          </a:prstGeom>
          <a:noFill/>
          <a:ln w="19050">
            <a:solidFill>
              <a:schemeClr val="accent5"/>
            </a:solidFill>
            <a:prstDash val="solid"/>
            <a:tailEnd type="triangle"/>
          </a:ln>
        </p:spPr>
      </p:sp>
      <p:sp>
        <p:nvSpPr>
          <p:cNvPr id="21" name="arrow to clahe"/>
          <p:cNvSpPr/>
          <p:nvPr/>
        </p:nvSpPr>
        <p:spPr>
          <a:xfrm flipV="1">
            <a:off x="5183211" y="2331720"/>
            <a:ext cx="201168" cy="594360"/>
          </a:xfrm>
          <a:prstGeom prst="line">
            <a:avLst/>
          </a:prstGeom>
          <a:noFill/>
          <a:ln w="19050">
            <a:solidFill>
              <a:schemeClr val="accent5"/>
            </a:solidFill>
            <a:prstDash val="solid"/>
            <a:tailEnd type="triangle"/>
          </a:ln>
        </p:spPr>
      </p:sp>
      <p:sp>
        <p:nvSpPr>
          <p:cNvPr id="22" name="arrow to udcp"/>
          <p:cNvSpPr/>
          <p:nvPr/>
        </p:nvSpPr>
        <p:spPr>
          <a:xfrm>
            <a:off x="5183211" y="2926080"/>
            <a:ext cx="201168" cy="594360"/>
          </a:xfrm>
          <a:prstGeom prst="line">
            <a:avLst/>
          </a:prstGeom>
          <a:noFill/>
          <a:ln w="19050">
            <a:solidFill>
              <a:schemeClr val="accent5"/>
            </a:solidFill>
            <a:prstDash val="solid"/>
            <a:tailEnd type="triangle"/>
          </a:ln>
        </p:spPr>
      </p:sp>
      <p:sp>
        <p:nvSpPr>
          <p:cNvPr id="23" name="arrow from clahe"/>
          <p:cNvSpPr/>
          <p:nvPr/>
        </p:nvSpPr>
        <p:spPr>
          <a:xfrm>
            <a:off x="6807316" y="2331720"/>
            <a:ext cx="201168" cy="594360"/>
          </a:xfrm>
          <a:prstGeom prst="line">
            <a:avLst/>
          </a:prstGeom>
          <a:noFill/>
          <a:ln w="19050">
            <a:solidFill>
              <a:schemeClr val="accent5"/>
            </a:solidFill>
            <a:prstDash val="solid"/>
            <a:tailEnd type="triangle"/>
          </a:ln>
        </p:spPr>
      </p:sp>
      <p:sp>
        <p:nvSpPr>
          <p:cNvPr id="24" name="arrow from udcp"/>
          <p:cNvSpPr/>
          <p:nvPr/>
        </p:nvSpPr>
        <p:spPr>
          <a:xfrm flipV="1">
            <a:off x="6807316" y="2926080"/>
            <a:ext cx="201168" cy="594360"/>
          </a:xfrm>
          <a:prstGeom prst="line">
            <a:avLst/>
          </a:prstGeom>
          <a:noFill/>
          <a:ln w="19050">
            <a:solidFill>
              <a:schemeClr val="accent5"/>
            </a:solidFill>
            <a:prstDash val="solid"/>
            <a:tailEnd type="triangle"/>
          </a:ln>
        </p:spPr>
      </p:sp>
      <p:sp>
        <p:nvSpPr>
          <p:cNvPr id="25" name="flow caption 0"/>
          <p:cNvSpPr txBox="1"/>
          <p:nvPr/>
        </p:nvSpPr>
        <p:spPr>
          <a:xfrm>
            <a:off x="548640"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Raw UIEB image</a:t>
            </a:r>
            <a:endParaRPr lang="en-US" sz="1200" dirty="0"/>
          </a:p>
        </p:txBody>
      </p:sp>
      <p:sp>
        <p:nvSpPr>
          <p:cNvPr id="26" name="flow caption 1"/>
          <p:cNvSpPr txBox="1"/>
          <p:nvPr/>
        </p:nvSpPr>
        <p:spPr>
          <a:xfrm>
            <a:off x="2172745"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Classify the water, pick a parameter profile</a:t>
            </a:r>
            <a:endParaRPr lang="en-US" sz="1200" dirty="0"/>
          </a:p>
        </p:txBody>
      </p:sp>
      <p:sp>
        <p:nvSpPr>
          <p:cNvPr id="27" name="flow caption 2"/>
          <p:cNvSpPr txBox="1"/>
          <p:nvPr/>
        </p:nvSpPr>
        <p:spPr>
          <a:xfrm>
            <a:off x="3796850"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Rebuild red, neutralise the cast, adjust brightness</a:t>
            </a:r>
            <a:endParaRPr lang="en-US" sz="1200" dirty="0"/>
          </a:p>
        </p:txBody>
      </p:sp>
      <p:sp>
        <p:nvSpPr>
          <p:cNvPr id="28" name="flow caption 3"/>
          <p:cNvSpPr txBox="1"/>
          <p:nvPr/>
        </p:nvSpPr>
        <p:spPr>
          <a:xfrm>
            <a:off x="5420955"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Two complementary versions: detail vs. haze removal</a:t>
            </a:r>
            <a:endParaRPr lang="en-US" sz="1200" dirty="0"/>
          </a:p>
        </p:txBody>
      </p:sp>
      <p:sp>
        <p:nvSpPr>
          <p:cNvPr id="29" name="flow caption 4"/>
          <p:cNvSpPr txBox="1"/>
          <p:nvPr/>
        </p:nvSpPr>
        <p:spPr>
          <a:xfrm>
            <a:off x="7045060"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Predict how much to trust each stream</a:t>
            </a:r>
            <a:endParaRPr lang="en-US" sz="1200" dirty="0"/>
          </a:p>
        </p:txBody>
      </p:sp>
      <p:sp>
        <p:nvSpPr>
          <p:cNvPr id="30" name="flow caption 5"/>
          <p:cNvSpPr txBox="1"/>
          <p:nvPr/>
        </p:nvSpPr>
        <p:spPr>
          <a:xfrm>
            <a:off x="8669165"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Blend per pixel across 5 pyramid levels</a:t>
            </a:r>
            <a:endParaRPr lang="en-US" sz="1200" dirty="0"/>
          </a:p>
        </p:txBody>
      </p:sp>
      <p:sp>
        <p:nvSpPr>
          <p:cNvPr id="31" name="flow caption 6"/>
          <p:cNvSpPr txBox="1"/>
          <p:nvPr/>
        </p:nvSpPr>
        <p:spPr>
          <a:xfrm>
            <a:off x="10293270" y="4160520"/>
            <a:ext cx="1349785" cy="1097280"/>
          </a:xfrm>
          <a:prstGeom prst="rect">
            <a:avLst/>
          </a:prstGeom>
          <a:noFill/>
          <a:ln/>
        </p:spPr>
        <p:txBody>
          <a:bodyPr wrap="square" lIns="0" tIns="0" rIns="0" bIns="0" rtlCol="0" anchor="t"/>
          <a:lstStyle/>
          <a:p>
            <a:pPr algn="ctr" indent="0" marL="0">
              <a:buNone/>
            </a:pPr>
            <a:r>
              <a:rPr lang="en-US" sz="1200" dirty="0">
                <a:solidFill>
                  <a:schemeClr val="accent5"/>
                </a:solidFill>
              </a:rPr>
              <a:t>Restored output</a:t>
            </a:r>
            <a:endParaRPr lang="en-US" sz="1200" dirty="0"/>
          </a:p>
        </p:txBody>
      </p:sp>
      <p:sp>
        <p:nvSpPr>
          <p:cNvPr id="32" name="legend swatch"/>
          <p:cNvSpPr/>
          <p:nvPr/>
        </p:nvSpPr>
        <p:spPr>
          <a:xfrm>
            <a:off x="548640" y="5715000"/>
            <a:ext cx="292608" cy="292608"/>
          </a:xfrm>
          <a:prstGeom prst="roundRect">
            <a:avLst>
              <a:gd name="adj" fmla="val 15625"/>
            </a:avLst>
          </a:prstGeom>
          <a:solidFill>
            <a:schemeClr val="accent1"/>
          </a:solidFill>
          <a:ln w="12700">
            <a:solidFill>
              <a:schemeClr val="accent1"/>
            </a:solidFill>
            <a:prstDash val="solid"/>
          </a:ln>
        </p:spPr>
      </p:sp>
      <p:sp>
        <p:nvSpPr>
          <p:cNvPr id="33" name="legend"/>
          <p:cNvSpPr txBox="1"/>
          <p:nvPr/>
        </p:nvSpPr>
        <p:spPr>
          <a:xfrm>
            <a:off x="960120" y="5715000"/>
            <a:ext cx="2743200" cy="292608"/>
          </a:xfrm>
          <a:prstGeom prst="rect">
            <a:avLst/>
          </a:prstGeom>
          <a:noFill/>
          <a:ln/>
        </p:spPr>
        <p:txBody>
          <a:bodyPr wrap="square" lIns="0" tIns="0" rIns="0" bIns="0" rtlCol="0" anchor="ctr"/>
          <a:lstStyle/>
          <a:p>
            <a:pPr indent="0" marL="0">
              <a:buNone/>
            </a:pPr>
            <a:r>
              <a:rPr lang="en-US" sz="1200" dirty="0">
                <a:solidFill>
                  <a:schemeClr val="tx1"/>
                </a:solidFill>
              </a:rPr>
              <a:t>★ Novel contribution</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Every stage on one held-out image</a:t>
            </a:r>
            <a:endParaRPr lang="en-US" sz="3200" dirty="0"/>
          </a:p>
        </p:txBody>
      </p:sp>
      <p:pic>
        <p:nvPicPr>
          <p:cNvPr id="3" name="stage 0" descr="scripts/presentation/build/img/794_img__raw.jpg">    </p:cNvPr>
          <p:cNvPicPr>
            <a:picLocks noChangeAspect="1"/>
          </p:cNvPicPr>
          <p:nvPr/>
        </p:nvPicPr>
        <p:blipFill>
          <a:blip r:embed="rId1"/>
          <a:stretch>
            <a:fillRect/>
          </a:stretch>
        </p:blipFill>
        <p:spPr>
          <a:xfrm>
            <a:off x="548640" y="1325880"/>
            <a:ext cx="2602154" cy="1824557"/>
          </a:xfrm>
          <a:prstGeom prst="rect">
            <a:avLst/>
          </a:prstGeom>
        </p:spPr>
      </p:pic>
      <p:sp>
        <p:nvSpPr>
          <p:cNvPr id="4" name="stage caption 0"/>
          <p:cNvSpPr txBox="1"/>
          <p:nvPr/>
        </p:nvSpPr>
        <p:spPr>
          <a:xfrm>
            <a:off x="548640" y="3241877"/>
            <a:ext cx="2602154" cy="320040"/>
          </a:xfrm>
          <a:prstGeom prst="rect">
            <a:avLst/>
          </a:prstGeom>
          <a:noFill/>
          <a:ln/>
        </p:spPr>
        <p:txBody>
          <a:bodyPr wrap="square" lIns="0" tIns="0" rIns="0" bIns="0" rtlCol="0" anchor="t"/>
          <a:lstStyle/>
          <a:p>
            <a:pPr indent="0" marL="0">
              <a:buNone/>
            </a:pPr>
            <a:r>
              <a:rPr lang="en-US" sz="1200" dirty="0">
                <a:solidFill>
                  <a:schemeClr val="tx1"/>
                </a:solidFill>
              </a:rPr>
              <a:t>Raw input · classified clear blue</a:t>
            </a:r>
            <a:endParaRPr lang="en-US" sz="1200" dirty="0"/>
          </a:p>
        </p:txBody>
      </p:sp>
      <p:pic>
        <p:nvPicPr>
          <p:cNvPr id="5" name="stage 1" descr="scripts/presentation/build/img/794_img__stage_red_compensated.jpg">    </p:cNvPr>
          <p:cNvPicPr>
            <a:picLocks noChangeAspect="1"/>
          </p:cNvPicPr>
          <p:nvPr/>
        </p:nvPicPr>
        <p:blipFill>
          <a:blip r:embed="rId2"/>
          <a:stretch>
            <a:fillRect/>
          </a:stretch>
        </p:blipFill>
        <p:spPr>
          <a:xfrm>
            <a:off x="3379394" y="1325880"/>
            <a:ext cx="2602154" cy="1824557"/>
          </a:xfrm>
          <a:prstGeom prst="rect">
            <a:avLst/>
          </a:prstGeom>
        </p:spPr>
      </p:pic>
      <p:sp>
        <p:nvSpPr>
          <p:cNvPr id="6" name="stage caption 1"/>
          <p:cNvSpPr txBox="1"/>
          <p:nvPr/>
        </p:nvSpPr>
        <p:spPr>
          <a:xfrm>
            <a:off x="3379394" y="3241877"/>
            <a:ext cx="2602154" cy="320040"/>
          </a:xfrm>
          <a:prstGeom prst="rect">
            <a:avLst/>
          </a:prstGeom>
          <a:noFill/>
          <a:ln/>
        </p:spPr>
        <p:txBody>
          <a:bodyPr wrap="square" lIns="0" tIns="0" rIns="0" bIns="0" rtlCol="0" anchor="t"/>
          <a:lstStyle/>
          <a:p>
            <a:pPr indent="0" marL="0">
              <a:buNone/>
            </a:pPr>
            <a:r>
              <a:rPr lang="en-US" sz="1200" dirty="0">
                <a:solidFill>
                  <a:schemeClr val="tx1"/>
                </a:solidFill>
              </a:rPr>
              <a:t>1 · Red compensation (s = 0.75)</a:t>
            </a:r>
            <a:endParaRPr lang="en-US" sz="1200" dirty="0"/>
          </a:p>
        </p:txBody>
      </p:sp>
      <p:pic>
        <p:nvPicPr>
          <p:cNvPr id="7" name="stage 2" descr="scripts/presentation/build/img/794_img__stage_white_balanced.jpg">    </p:cNvPr>
          <p:cNvPicPr>
            <a:picLocks noChangeAspect="1"/>
          </p:cNvPicPr>
          <p:nvPr/>
        </p:nvPicPr>
        <p:blipFill>
          <a:blip r:embed="rId3"/>
          <a:stretch>
            <a:fillRect/>
          </a:stretch>
        </p:blipFill>
        <p:spPr>
          <a:xfrm>
            <a:off x="6210148" y="1325880"/>
            <a:ext cx="2602154" cy="1824557"/>
          </a:xfrm>
          <a:prstGeom prst="rect">
            <a:avLst/>
          </a:prstGeom>
        </p:spPr>
      </p:pic>
      <p:sp>
        <p:nvSpPr>
          <p:cNvPr id="8" name="stage caption 2"/>
          <p:cNvSpPr txBox="1"/>
          <p:nvPr/>
        </p:nvSpPr>
        <p:spPr>
          <a:xfrm>
            <a:off x="6210148" y="3241877"/>
            <a:ext cx="2602154" cy="320040"/>
          </a:xfrm>
          <a:prstGeom prst="rect">
            <a:avLst/>
          </a:prstGeom>
          <a:noFill/>
          <a:ln/>
        </p:spPr>
        <p:txBody>
          <a:bodyPr wrap="square" lIns="0" tIns="0" rIns="0" bIns="0" rtlCol="0" anchor="t"/>
          <a:lstStyle/>
          <a:p>
            <a:pPr indent="0" marL="0">
              <a:buNone/>
            </a:pPr>
            <a:r>
              <a:rPr lang="en-US" sz="1200" dirty="0">
                <a:solidFill>
                  <a:schemeClr val="tx1"/>
                </a:solidFill>
              </a:rPr>
              <a:t>2 · White balance (cap 1.5×)</a:t>
            </a:r>
            <a:endParaRPr lang="en-US" sz="1200" dirty="0"/>
          </a:p>
        </p:txBody>
      </p:sp>
      <p:pic>
        <p:nvPicPr>
          <p:cNvPr id="9" name="stage 3" descr="scripts/presentation/build/img/794_img__stage_gamma_corrected.jpg">    </p:cNvPr>
          <p:cNvPicPr>
            <a:picLocks noChangeAspect="1"/>
          </p:cNvPicPr>
          <p:nvPr/>
        </p:nvPicPr>
        <p:blipFill>
          <a:blip r:embed="rId4"/>
          <a:stretch>
            <a:fillRect/>
          </a:stretch>
        </p:blipFill>
        <p:spPr>
          <a:xfrm>
            <a:off x="9040901" y="1325880"/>
            <a:ext cx="2602154" cy="1824557"/>
          </a:xfrm>
          <a:prstGeom prst="rect">
            <a:avLst/>
          </a:prstGeom>
        </p:spPr>
      </p:pic>
      <p:sp>
        <p:nvSpPr>
          <p:cNvPr id="10" name="stage caption 3"/>
          <p:cNvSpPr txBox="1"/>
          <p:nvPr/>
        </p:nvSpPr>
        <p:spPr>
          <a:xfrm>
            <a:off x="9040901" y="3241877"/>
            <a:ext cx="2602154" cy="320040"/>
          </a:xfrm>
          <a:prstGeom prst="rect">
            <a:avLst/>
          </a:prstGeom>
          <a:noFill/>
          <a:ln/>
        </p:spPr>
        <p:txBody>
          <a:bodyPr wrap="square" lIns="0" tIns="0" rIns="0" bIns="0" rtlCol="0" anchor="t"/>
          <a:lstStyle/>
          <a:p>
            <a:pPr indent="0" marL="0">
              <a:buNone/>
            </a:pPr>
            <a:r>
              <a:rPr lang="en-US" sz="1200" dirty="0">
                <a:solidFill>
                  <a:schemeClr val="tx1"/>
                </a:solidFill>
              </a:rPr>
              <a:t>3 · Gamma (γ = 1.14)</a:t>
            </a:r>
            <a:endParaRPr lang="en-US" sz="1200" dirty="0"/>
          </a:p>
        </p:txBody>
      </p:sp>
      <p:pic>
        <p:nvPicPr>
          <p:cNvPr id="11" name="stage 4" descr="scripts/presentation/build/img/794_img__stage_clahe_stream.jpg">    </p:cNvPr>
          <p:cNvPicPr>
            <a:picLocks noChangeAspect="1"/>
          </p:cNvPicPr>
          <p:nvPr/>
        </p:nvPicPr>
        <p:blipFill>
          <a:blip r:embed="rId5"/>
          <a:stretch>
            <a:fillRect/>
          </a:stretch>
        </p:blipFill>
        <p:spPr>
          <a:xfrm>
            <a:off x="548640" y="3744797"/>
            <a:ext cx="2602154" cy="1824557"/>
          </a:xfrm>
          <a:prstGeom prst="rect">
            <a:avLst/>
          </a:prstGeom>
        </p:spPr>
      </p:pic>
      <p:sp>
        <p:nvSpPr>
          <p:cNvPr id="12" name="stage caption 4"/>
          <p:cNvSpPr txBox="1"/>
          <p:nvPr/>
        </p:nvSpPr>
        <p:spPr>
          <a:xfrm>
            <a:off x="548640" y="5660794"/>
            <a:ext cx="2602154" cy="320040"/>
          </a:xfrm>
          <a:prstGeom prst="rect">
            <a:avLst/>
          </a:prstGeom>
          <a:noFill/>
          <a:ln/>
        </p:spPr>
        <p:txBody>
          <a:bodyPr wrap="square" lIns="0" tIns="0" rIns="0" bIns="0" rtlCol="0" anchor="t"/>
          <a:lstStyle/>
          <a:p>
            <a:pPr indent="0" marL="0">
              <a:buNone/>
            </a:pPr>
            <a:r>
              <a:rPr lang="en-US" sz="1200" dirty="0">
                <a:solidFill>
                  <a:schemeClr val="tx1"/>
                </a:solidFill>
              </a:rPr>
              <a:t>4a · CLAHE detail stream (clip 1.99)</a:t>
            </a:r>
            <a:endParaRPr lang="en-US" sz="1200" dirty="0"/>
          </a:p>
        </p:txBody>
      </p:sp>
      <p:pic>
        <p:nvPicPr>
          <p:cNvPr id="13" name="stage 5" descr="scripts/presentation/build/img/794_img__stage_dehazed_stream.jpg">    </p:cNvPr>
          <p:cNvPicPr>
            <a:picLocks noChangeAspect="1"/>
          </p:cNvPicPr>
          <p:nvPr/>
        </p:nvPicPr>
        <p:blipFill>
          <a:blip r:embed="rId6"/>
          <a:stretch>
            <a:fillRect/>
          </a:stretch>
        </p:blipFill>
        <p:spPr>
          <a:xfrm>
            <a:off x="3379394" y="3744797"/>
            <a:ext cx="2602154" cy="1824557"/>
          </a:xfrm>
          <a:prstGeom prst="rect">
            <a:avLst/>
          </a:prstGeom>
        </p:spPr>
      </p:pic>
      <p:sp>
        <p:nvSpPr>
          <p:cNvPr id="14" name="stage caption 5"/>
          <p:cNvSpPr txBox="1"/>
          <p:nvPr/>
        </p:nvSpPr>
        <p:spPr>
          <a:xfrm>
            <a:off x="3379394" y="5660794"/>
            <a:ext cx="2602154" cy="320040"/>
          </a:xfrm>
          <a:prstGeom prst="rect">
            <a:avLst/>
          </a:prstGeom>
          <a:noFill/>
          <a:ln/>
        </p:spPr>
        <p:txBody>
          <a:bodyPr wrap="square" lIns="0" tIns="0" rIns="0" bIns="0" rtlCol="0" anchor="t"/>
          <a:lstStyle/>
          <a:p>
            <a:pPr indent="0" marL="0">
              <a:buNone/>
            </a:pPr>
            <a:r>
              <a:rPr lang="en-US" sz="1200" dirty="0">
                <a:solidFill>
                  <a:schemeClr val="tx1"/>
                </a:solidFill>
              </a:rPr>
              <a:t>4b · Dehazed stream (ω = 0.5)</a:t>
            </a:r>
            <a:endParaRPr lang="en-US" sz="1200" dirty="0"/>
          </a:p>
        </p:txBody>
      </p:sp>
      <p:sp>
        <p:nvSpPr>
          <p:cNvPr id="15" name="result frame"/>
          <p:cNvSpPr/>
          <p:nvPr/>
        </p:nvSpPr>
        <p:spPr>
          <a:xfrm>
            <a:off x="6164428" y="3699077"/>
            <a:ext cx="2693594" cy="1915997"/>
          </a:xfrm>
          <a:prstGeom prst="rect">
            <a:avLst/>
          </a:prstGeom>
          <a:solidFill>
            <a:schemeClr val="accent1"/>
          </a:solidFill>
          <a:ln w="12700">
            <a:solidFill>
              <a:schemeClr val="accent1"/>
            </a:solidFill>
            <a:prstDash val="solid"/>
          </a:ln>
        </p:spPr>
      </p:sp>
      <p:pic>
        <p:nvPicPr>
          <p:cNvPr id="16" name="stage 6" descr="scripts/presentation/build/img/794_img__stage_restored.jpg">    </p:cNvPr>
          <p:cNvPicPr>
            <a:picLocks noChangeAspect="1"/>
          </p:cNvPicPr>
          <p:nvPr/>
        </p:nvPicPr>
        <p:blipFill>
          <a:blip r:embed="rId7"/>
          <a:stretch>
            <a:fillRect/>
          </a:stretch>
        </p:blipFill>
        <p:spPr>
          <a:xfrm>
            <a:off x="6210148" y="3744797"/>
            <a:ext cx="2602154" cy="1824557"/>
          </a:xfrm>
          <a:prstGeom prst="rect">
            <a:avLst/>
          </a:prstGeom>
        </p:spPr>
      </p:pic>
      <p:sp>
        <p:nvSpPr>
          <p:cNvPr id="17" name="stage caption 6"/>
          <p:cNvSpPr txBox="1"/>
          <p:nvPr/>
        </p:nvSpPr>
        <p:spPr>
          <a:xfrm>
            <a:off x="6210148" y="5660794"/>
            <a:ext cx="2602154" cy="320040"/>
          </a:xfrm>
          <a:prstGeom prst="rect">
            <a:avLst/>
          </a:prstGeom>
          <a:noFill/>
          <a:ln/>
        </p:spPr>
        <p:txBody>
          <a:bodyPr wrap="square" lIns="0" tIns="0" rIns="0" bIns="0" rtlCol="0" anchor="t"/>
          <a:lstStyle/>
          <a:p>
            <a:pPr indent="0" marL="0">
              <a:buNone/>
            </a:pPr>
            <a:r>
              <a:rPr lang="en-US" sz="1200" b="1" dirty="0">
                <a:solidFill>
                  <a:schemeClr val="accent1"/>
                </a:solidFill>
              </a:rPr>
              <a:t>5–6 · Fused result (α = 0.49)</a:t>
            </a:r>
            <a:endParaRPr lang="en-US" sz="1200" dirty="0"/>
          </a:p>
        </p:txBody>
      </p:sp>
      <p:pic>
        <p:nvPicPr>
          <p:cNvPr id="18" name="stage 7" descr="scripts/presentation/build/img/794_img__reference.jpg">    </p:cNvPr>
          <p:cNvPicPr>
            <a:picLocks noChangeAspect="1"/>
          </p:cNvPicPr>
          <p:nvPr/>
        </p:nvPicPr>
        <p:blipFill>
          <a:blip r:embed="rId8"/>
          <a:stretch>
            <a:fillRect/>
          </a:stretch>
        </p:blipFill>
        <p:spPr>
          <a:xfrm>
            <a:off x="9040901" y="3744797"/>
            <a:ext cx="2602154" cy="1824557"/>
          </a:xfrm>
          <a:prstGeom prst="rect">
            <a:avLst/>
          </a:prstGeom>
        </p:spPr>
      </p:pic>
      <p:sp>
        <p:nvSpPr>
          <p:cNvPr id="19" name="stage caption 7"/>
          <p:cNvSpPr txBox="1"/>
          <p:nvPr/>
        </p:nvSpPr>
        <p:spPr>
          <a:xfrm>
            <a:off x="9040901" y="5660794"/>
            <a:ext cx="2602154" cy="320040"/>
          </a:xfrm>
          <a:prstGeom prst="rect">
            <a:avLst/>
          </a:prstGeom>
          <a:noFill/>
          <a:ln/>
        </p:spPr>
        <p:txBody>
          <a:bodyPr wrap="square" lIns="0" tIns="0" rIns="0" bIns="0" rtlCol="0" anchor="t"/>
          <a:lstStyle/>
          <a:p>
            <a:pPr indent="0" marL="0">
              <a:buNone/>
            </a:pPr>
            <a:r>
              <a:rPr lang="en-US" sz="1200" dirty="0">
                <a:solidFill>
                  <a:schemeClr val="tx1"/>
                </a:solidFill>
              </a:rPr>
              <a:t>UIEB reference</a:t>
            </a:r>
            <a:endParaRPr lang="en-US" sz="1200" dirty="0"/>
          </a:p>
        </p:txBody>
      </p:sp>
      <p:sp>
        <p:nvSpPr>
          <p:cNvPr id="20" name="stage scores"/>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200" i="1" dirty="0">
                <a:solidFill>
                  <a:schemeClr val="accent5"/>
                </a:solidFill>
              </a:rPr>
              <a:t>This image: PSNR 17.51 dB, SSIM 0.875 (CLAHE-only: 18.55 dB, 0.831)</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 0 · Routing: four water types, two profiles</a:t>
            </a:r>
            <a:endParaRPr lang="en-US" sz="3200" dirty="0"/>
          </a:p>
        </p:txBody>
      </p:sp>
      <p:sp>
        <p:nvSpPr>
          <p:cNvPr id="3" name="rule 1 circle"/>
          <p:cNvSpPr/>
          <p:nvPr/>
        </p:nvSpPr>
        <p:spPr>
          <a:xfrm>
            <a:off x="548640" y="1371600"/>
            <a:ext cx="685800" cy="685800"/>
          </a:xfrm>
          <a:prstGeom prst="ellipse">
            <a:avLst/>
          </a:prstGeom>
          <a:solidFill>
            <a:schemeClr val="accent1"/>
          </a:solidFill>
          <a:ln w="12700">
            <a:solidFill>
              <a:schemeClr val="accent1"/>
            </a:solidFill>
            <a:prstDash val="solid"/>
          </a:ln>
        </p:spPr>
      </p:sp>
      <p:pic>
        <p:nvPicPr>
          <p:cNvPr id="4" name="rule 1 glyph" descr="preencoded.png">    </p:cNvPr>
          <p:cNvPicPr>
            <a:picLocks noChangeAspect="1"/>
          </p:cNvPicPr>
          <p:nvPr/>
        </p:nvPicPr>
        <p:blipFill>
          <a:blip r:embed="rId1"/>
          <a:stretch>
            <a:fillRect/>
          </a:stretch>
        </p:blipFill>
        <p:spPr>
          <a:xfrm>
            <a:off x="699516" y="1522476"/>
            <a:ext cx="384048" cy="384048"/>
          </a:xfrm>
          <a:prstGeom prst="rect">
            <a:avLst/>
          </a:prstGeom>
        </p:spPr>
      </p:pic>
      <p:sp>
        <p:nvSpPr>
          <p:cNvPr id="5" name="Text 2"/>
          <p:cNvSpPr txBox="1"/>
          <p:nvPr/>
        </p:nvSpPr>
        <p:spPr>
          <a:xfrm>
            <a:off x="1463040" y="1389888"/>
            <a:ext cx="4023360" cy="347472"/>
          </a:xfrm>
          <a:prstGeom prst="rect">
            <a:avLst/>
          </a:prstGeom>
          <a:noFill/>
          <a:ln/>
        </p:spPr>
        <p:txBody>
          <a:bodyPr wrap="square" lIns="0" tIns="0" rIns="0" bIns="0" rtlCol="0" anchor="t"/>
          <a:lstStyle/>
          <a:p>
            <a:pPr indent="0" marL="0">
              <a:buNone/>
            </a:pPr>
            <a:r>
              <a:rPr lang="en-US" sz="1800" b="1" dirty="0">
                <a:solidFill>
                  <a:schemeClr val="tx2"/>
                </a:solidFill>
              </a:rPr>
              <a:t>Deep low-light</a:t>
            </a:r>
            <a:endParaRPr lang="en-US" sz="1800" dirty="0"/>
          </a:p>
        </p:txBody>
      </p:sp>
      <p:sp>
        <p:nvSpPr>
          <p:cNvPr id="6" name="Text 3"/>
          <p:cNvSpPr txBox="1"/>
          <p:nvPr/>
        </p:nvSpPr>
        <p:spPr>
          <a:xfrm>
            <a:off x="1463040" y="1755648"/>
            <a:ext cx="4023360" cy="320040"/>
          </a:xfrm>
          <a:prstGeom prst="rect">
            <a:avLst/>
          </a:prstGeom>
          <a:noFill/>
          <a:ln/>
        </p:spPr>
        <p:txBody>
          <a:bodyPr wrap="square" lIns="0" tIns="0" rIns="0" bIns="0" rtlCol="0" anchor="t"/>
          <a:lstStyle/>
          <a:p>
            <a:pPr indent="0" marL="0">
              <a:buNone/>
            </a:pPr>
            <a:r>
              <a:rPr lang="en-US" sz="1400" dirty="0">
                <a:solidFill>
                  <a:schemeClr val="accent5"/>
                </a:solidFill>
              </a:rPr>
              <a:t>mean brightness &lt; 0.30</a:t>
            </a:r>
            <a:endParaRPr lang="en-US" sz="1400" dirty="0"/>
          </a:p>
        </p:txBody>
      </p:sp>
      <p:sp>
        <p:nvSpPr>
          <p:cNvPr id="7" name="rule 2 circle"/>
          <p:cNvSpPr/>
          <p:nvPr/>
        </p:nvSpPr>
        <p:spPr>
          <a:xfrm>
            <a:off x="548640" y="2514600"/>
            <a:ext cx="685800" cy="685800"/>
          </a:xfrm>
          <a:prstGeom prst="ellipse">
            <a:avLst/>
          </a:prstGeom>
          <a:solidFill>
            <a:schemeClr val="accent1"/>
          </a:solidFill>
          <a:ln w="12700">
            <a:solidFill>
              <a:schemeClr val="accent1"/>
            </a:solidFill>
            <a:prstDash val="solid"/>
          </a:ln>
        </p:spPr>
      </p:sp>
      <p:pic>
        <p:nvPicPr>
          <p:cNvPr id="8" name="rule 2 glyph" descr="preencoded.png">    </p:cNvPr>
          <p:cNvPicPr>
            <a:picLocks noChangeAspect="1"/>
          </p:cNvPicPr>
          <p:nvPr/>
        </p:nvPicPr>
        <p:blipFill>
          <a:blip r:embed="rId2"/>
          <a:stretch>
            <a:fillRect/>
          </a:stretch>
        </p:blipFill>
        <p:spPr>
          <a:xfrm>
            <a:off x="699516" y="2665476"/>
            <a:ext cx="384048" cy="384048"/>
          </a:xfrm>
          <a:prstGeom prst="rect">
            <a:avLst/>
          </a:prstGeom>
        </p:spPr>
      </p:pic>
      <p:sp>
        <p:nvSpPr>
          <p:cNvPr id="9" name="Text 5"/>
          <p:cNvSpPr txBox="1"/>
          <p:nvPr/>
        </p:nvSpPr>
        <p:spPr>
          <a:xfrm>
            <a:off x="1463040" y="2532888"/>
            <a:ext cx="4023360" cy="347472"/>
          </a:xfrm>
          <a:prstGeom prst="rect">
            <a:avLst/>
          </a:prstGeom>
          <a:noFill/>
          <a:ln/>
        </p:spPr>
        <p:txBody>
          <a:bodyPr wrap="square" lIns="0" tIns="0" rIns="0" bIns="0" rtlCol="0" anchor="t"/>
          <a:lstStyle/>
          <a:p>
            <a:pPr indent="0" marL="0">
              <a:buNone/>
            </a:pPr>
            <a:r>
              <a:rPr lang="en-US" sz="1800" b="1" dirty="0">
                <a:solidFill>
                  <a:schemeClr val="tx2"/>
                </a:solidFill>
              </a:rPr>
              <a:t>Green turbid</a:t>
            </a:r>
            <a:endParaRPr lang="en-US" sz="1800" dirty="0"/>
          </a:p>
        </p:txBody>
      </p:sp>
      <p:sp>
        <p:nvSpPr>
          <p:cNvPr id="10" name="Text 6"/>
          <p:cNvSpPr txBox="1"/>
          <p:nvPr/>
        </p:nvSpPr>
        <p:spPr>
          <a:xfrm>
            <a:off x="1463040" y="2898648"/>
            <a:ext cx="4023360" cy="320040"/>
          </a:xfrm>
          <a:prstGeom prst="rect">
            <a:avLst/>
          </a:prstGeom>
          <a:noFill/>
          <a:ln/>
        </p:spPr>
        <p:txBody>
          <a:bodyPr wrap="square" lIns="0" tIns="0" rIns="0" bIns="0" rtlCol="0" anchor="t"/>
          <a:lstStyle/>
          <a:p>
            <a:pPr indent="0" marL="0">
              <a:buNone/>
            </a:pPr>
            <a:r>
              <a:rPr lang="en-US" sz="1400" dirty="0">
                <a:solidFill>
                  <a:schemeClr val="accent5"/>
                </a:solidFill>
              </a:rPr>
              <a:t>else if green dominance &gt; 8 and haze &gt; 0.35</a:t>
            </a:r>
            <a:endParaRPr lang="en-US" sz="1400" dirty="0"/>
          </a:p>
        </p:txBody>
      </p:sp>
      <p:sp>
        <p:nvSpPr>
          <p:cNvPr id="11" name="rule 3 circle"/>
          <p:cNvSpPr/>
          <p:nvPr/>
        </p:nvSpPr>
        <p:spPr>
          <a:xfrm>
            <a:off x="548640" y="3657600"/>
            <a:ext cx="685800" cy="685800"/>
          </a:xfrm>
          <a:prstGeom prst="ellipse">
            <a:avLst/>
          </a:prstGeom>
          <a:solidFill>
            <a:schemeClr val="accent1"/>
          </a:solidFill>
          <a:ln w="12700">
            <a:solidFill>
              <a:schemeClr val="accent1"/>
            </a:solidFill>
            <a:prstDash val="solid"/>
          </a:ln>
        </p:spPr>
      </p:sp>
      <p:pic>
        <p:nvPicPr>
          <p:cNvPr id="12" name="rule 3 glyph" descr="preencoded.png">    </p:cNvPr>
          <p:cNvPicPr>
            <a:picLocks noChangeAspect="1"/>
          </p:cNvPicPr>
          <p:nvPr/>
        </p:nvPicPr>
        <p:blipFill>
          <a:blip r:embed="rId3"/>
          <a:stretch>
            <a:fillRect/>
          </a:stretch>
        </p:blipFill>
        <p:spPr>
          <a:xfrm>
            <a:off x="699516" y="3808476"/>
            <a:ext cx="384048" cy="384048"/>
          </a:xfrm>
          <a:prstGeom prst="rect">
            <a:avLst/>
          </a:prstGeom>
        </p:spPr>
      </p:pic>
      <p:sp>
        <p:nvSpPr>
          <p:cNvPr id="13" name="Text 8"/>
          <p:cNvSpPr txBox="1"/>
          <p:nvPr/>
        </p:nvSpPr>
        <p:spPr>
          <a:xfrm>
            <a:off x="1463040" y="3675888"/>
            <a:ext cx="4023360" cy="347472"/>
          </a:xfrm>
          <a:prstGeom prst="rect">
            <a:avLst/>
          </a:prstGeom>
          <a:noFill/>
          <a:ln/>
        </p:spPr>
        <p:txBody>
          <a:bodyPr wrap="square" lIns="0" tIns="0" rIns="0" bIns="0" rtlCol="0" anchor="t"/>
          <a:lstStyle/>
          <a:p>
            <a:pPr indent="0" marL="0">
              <a:buNone/>
            </a:pPr>
            <a:r>
              <a:rPr lang="en-US" sz="1800" b="1" dirty="0">
                <a:solidFill>
                  <a:schemeClr val="tx2"/>
                </a:solidFill>
              </a:rPr>
              <a:t>Hazy bright</a:t>
            </a:r>
            <a:endParaRPr lang="en-US" sz="1800" dirty="0"/>
          </a:p>
        </p:txBody>
      </p:sp>
      <p:sp>
        <p:nvSpPr>
          <p:cNvPr id="14" name="Text 9"/>
          <p:cNvSpPr txBox="1"/>
          <p:nvPr/>
        </p:nvSpPr>
        <p:spPr>
          <a:xfrm>
            <a:off x="1463040" y="4041648"/>
            <a:ext cx="4023360" cy="320040"/>
          </a:xfrm>
          <a:prstGeom prst="rect">
            <a:avLst/>
          </a:prstGeom>
          <a:noFill/>
          <a:ln/>
        </p:spPr>
        <p:txBody>
          <a:bodyPr wrap="square" lIns="0" tIns="0" rIns="0" bIns="0" rtlCol="0" anchor="t"/>
          <a:lstStyle/>
          <a:p>
            <a:pPr indent="0" marL="0">
              <a:buNone/>
            </a:pPr>
            <a:r>
              <a:rPr lang="en-US" sz="1400" dirty="0">
                <a:solidFill>
                  <a:schemeClr val="accent5"/>
                </a:solidFill>
              </a:rPr>
              <a:t>else if haze &gt; 0.45 and saturation &lt; 0.35</a:t>
            </a:r>
            <a:endParaRPr lang="en-US" sz="1400" dirty="0"/>
          </a:p>
        </p:txBody>
      </p:sp>
      <p:sp>
        <p:nvSpPr>
          <p:cNvPr id="15" name="rule 4 circle"/>
          <p:cNvSpPr/>
          <p:nvPr/>
        </p:nvSpPr>
        <p:spPr>
          <a:xfrm>
            <a:off x="548640" y="4800600"/>
            <a:ext cx="685800" cy="685800"/>
          </a:xfrm>
          <a:prstGeom prst="ellipse">
            <a:avLst/>
          </a:prstGeom>
          <a:solidFill>
            <a:schemeClr val="accent1"/>
          </a:solidFill>
          <a:ln w="12700">
            <a:solidFill>
              <a:schemeClr val="accent1"/>
            </a:solidFill>
            <a:prstDash val="solid"/>
          </a:ln>
        </p:spPr>
      </p:sp>
      <p:pic>
        <p:nvPicPr>
          <p:cNvPr id="16" name="rule 4 glyph" descr="preencoded.png">    </p:cNvPr>
          <p:cNvPicPr>
            <a:picLocks noChangeAspect="1"/>
          </p:cNvPicPr>
          <p:nvPr/>
        </p:nvPicPr>
        <p:blipFill>
          <a:blip r:embed="rId4"/>
          <a:stretch>
            <a:fillRect/>
          </a:stretch>
        </p:blipFill>
        <p:spPr>
          <a:xfrm>
            <a:off x="699516" y="4951476"/>
            <a:ext cx="384048" cy="384048"/>
          </a:xfrm>
          <a:prstGeom prst="rect">
            <a:avLst/>
          </a:prstGeom>
        </p:spPr>
      </p:pic>
      <p:sp>
        <p:nvSpPr>
          <p:cNvPr id="17" name="Text 11"/>
          <p:cNvSpPr txBox="1"/>
          <p:nvPr/>
        </p:nvSpPr>
        <p:spPr>
          <a:xfrm>
            <a:off x="1463040" y="4818888"/>
            <a:ext cx="4023360" cy="347472"/>
          </a:xfrm>
          <a:prstGeom prst="rect">
            <a:avLst/>
          </a:prstGeom>
          <a:noFill/>
          <a:ln/>
        </p:spPr>
        <p:txBody>
          <a:bodyPr wrap="square" lIns="0" tIns="0" rIns="0" bIns="0" rtlCol="0" anchor="t"/>
          <a:lstStyle/>
          <a:p>
            <a:pPr indent="0" marL="0">
              <a:buNone/>
            </a:pPr>
            <a:r>
              <a:rPr lang="en-US" sz="1800" b="1" dirty="0">
                <a:solidFill>
                  <a:schemeClr val="tx2"/>
                </a:solidFill>
              </a:rPr>
              <a:t>Clear blue</a:t>
            </a:r>
            <a:endParaRPr lang="en-US" sz="1800" dirty="0"/>
          </a:p>
        </p:txBody>
      </p:sp>
      <p:sp>
        <p:nvSpPr>
          <p:cNvPr id="18" name="Text 12"/>
          <p:cNvSpPr txBox="1"/>
          <p:nvPr/>
        </p:nvSpPr>
        <p:spPr>
          <a:xfrm>
            <a:off x="1463040" y="5184648"/>
            <a:ext cx="4023360" cy="320040"/>
          </a:xfrm>
          <a:prstGeom prst="rect">
            <a:avLst/>
          </a:prstGeom>
          <a:noFill/>
          <a:ln/>
        </p:spPr>
        <p:txBody>
          <a:bodyPr wrap="square" lIns="0" tIns="0" rIns="0" bIns="0" rtlCol="0" anchor="t"/>
          <a:lstStyle/>
          <a:p>
            <a:pPr indent="0" marL="0">
              <a:buNone/>
            </a:pPr>
            <a:r>
              <a:rPr lang="en-US" sz="1400" dirty="0">
                <a:solidFill>
                  <a:schemeClr val="accent5"/>
                </a:solidFill>
              </a:rPr>
              <a:t>otherwise · 72% of UIEB</a:t>
            </a:r>
            <a:endParaRPr lang="en-US" sz="1400" dirty="0"/>
          </a:p>
        </p:txBody>
      </p:sp>
      <p:graphicFrame>
        <p:nvGraphicFramePr>
          <p:cNvPr id="7" name="profile table"/>
          <p:cNvGraphicFramePr>
            <a:graphicFrameLocks noGrp="1"/>
          </p:cNvGraphicFramePr>
          <p:nvPr>
            <p:extLst>
              <p:ext uri="{D42A27DB-BD31-4B8C-83A1-F6EECF244321}">
                <p14:modId xmlns:p14="http://schemas.microsoft.com/office/powerpoint/2010/main" val="1579011935"/>
              </p:ext>
            </p:extLst>
          </p:nvPr>
        </p:nvGraphicFramePr>
        <p:xfrm>
          <a:off x="5943600" y="1371600"/>
          <a:ext cx="5699455" cy="914400"/>
        </p:xfrm>
        <a:graphic>
          <a:graphicData uri="http://schemas.openxmlformats.org/drawingml/2006/table">
            <a:tbl>
              <a:tblPr/>
              <a:tblGrid>
                <a:gridCol w="1993392"/>
                <a:gridCol w="658368"/>
                <a:gridCol w="731520"/>
                <a:gridCol w="850392"/>
                <a:gridCol w="868680"/>
                <a:gridCol w="594360"/>
              </a:tblGrid>
              <a:tr h="502920">
                <a:tc>
                  <a:txBody>
                    <a:bodyPr/>
                    <a:lstStyle/>
                    <a:p>
                      <a:pPr indent="0" marL="0">
                        <a:buNone/>
                      </a:pPr>
                      <a:r>
                        <a:rPr lang="en-US" sz="1300" b="1" dirty="0">
                          <a:solidFill>
                            <a:schemeClr val="bg1"/>
                          </a:solidFill>
                        </a:rPr>
                        <a:t>Profile</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Red s</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WB cap</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Gamma ×</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CLAHE ×</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ω</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Global (clear blue, green turbid and deep low-light)</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0.75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0.6</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Hazy bright</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0.75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1.2</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0.6</a:t>
                      </a:r>
                      <a:endParaRPr lang="en-US" sz="1300" dirty="0"/>
                    </a:p>
                  </a:txBody>
                  <a:tcPr marL="91440" marR="91440" marT="45720" marB="45720" anchor="ctr">
                    <a:lnL w="6350" cap="flat" cmpd="sng" algn="ctr">
                      <a:solidFill>
                        <a:srgbClr val="DBE4EA"/>
                      </a:solidFill>
                      <a:prstDash val="solid"/>
                      <a:round/>
                      <a:headEnd type="none" w="med" len="med"/>
                      <a:tailEnd type="none" w="med" len="med"/>
                    </a:lnL>
                    <a:lnR w="6350" cap="flat" cmpd="sng" algn="ctr">
                      <a:solidFill>
                        <a:srgbClr val="DBE4EA"/>
                      </a:solidFill>
                      <a:prstDash val="solid"/>
                      <a:round/>
                      <a:headEnd type="none" w="med" len="med"/>
                      <a:tailEnd type="none" w="med" len="med"/>
                    </a:lnR>
                    <a:lnT w="6350" cap="flat" cmpd="sng" algn="ctr">
                      <a:solidFill>
                        <a:srgbClr val="DBE4EA"/>
                      </a:solidFill>
                      <a:prstDash val="solid"/>
                      <a:round/>
                      <a:headEnd type="none" w="med" len="med"/>
                      <a:tailEnd type="none" w="med" len="med"/>
                    </a:lnT>
                    <a:lnB w="6350" cap="flat" cmpd="sng" algn="ctr">
                      <a:solidFill>
                        <a:srgbClr val="DBE4EA"/>
                      </a:solidFill>
                      <a:prstDash val="solid"/>
                      <a:round/>
                      <a:headEnd type="none" w="med" len="med"/>
                      <a:tailEnd type="none" w="med" len="med"/>
                    </a:lnB>
                    <a:solidFill>
                      <a:schemeClr val="bg1"/>
                    </a:solidFill>
                  </a:tcPr>
                </a:tc>
              </a:tr>
            </a:tbl>
          </a:graphicData>
        </a:graphic>
      </p:graphicFrame>
      <p:sp>
        <p:nvSpPr>
          <p:cNvPr id="20" name="gate note"/>
          <p:cNvSpPr txBox="1"/>
          <p:nvPr/>
        </p:nvSpPr>
        <p:spPr>
          <a:xfrm>
            <a:off x="5943600" y="3657600"/>
            <a:ext cx="5699455" cy="1097280"/>
          </a:xfrm>
          <a:prstGeom prst="rect">
            <a:avLst/>
          </a:prstGeom>
          <a:noFill/>
          <a:ln/>
        </p:spPr>
        <p:txBody>
          <a:bodyPr wrap="square" lIns="0" tIns="0" rIns="0" bIns="0" rtlCol="0" anchor="t"/>
          <a:lstStyle/>
          <a:p>
            <a:pPr indent="0" marL="0">
              <a:buNone/>
            </a:pPr>
            <a:r>
              <a:rPr lang="en-US" sz="1400" dirty="0">
                <a:solidFill>
                  <a:schemeClr val="tx1"/>
                </a:solidFill>
              </a:rPr>
              <a:t>A type keeps its own values only if they beat the single global profile on its calibration images (paired Wilcoxon, p &lt; 0.05). Clear blue, green turbid and deep low-light kept the global stage-1 values.</a:t>
            </a:r>
            <a:endParaRPr lang="en-US" sz="1400" dirty="0"/>
          </a:p>
        </p:txBody>
      </p:sp>
      <p:sp>
        <p:nvSpPr>
          <p:cNvPr id="21" name="table caption"/>
          <p:cNvSpPr txBox="1"/>
          <p:nvPr/>
        </p:nvSpPr>
        <p:spPr>
          <a:xfrm>
            <a:off x="5943600" y="4892040"/>
            <a:ext cx="5699455" cy="320040"/>
          </a:xfrm>
          <a:prstGeom prst="rect">
            <a:avLst/>
          </a:prstGeom>
          <a:noFill/>
          <a:ln/>
        </p:spPr>
        <p:txBody>
          <a:bodyPr wrap="square" lIns="0" tIns="0" rIns="0" bIns="0" rtlCol="0" anchor="t"/>
          <a:lstStyle/>
          <a:p>
            <a:pPr indent="0" marL="0">
              <a:buNone/>
            </a:pPr>
            <a:r>
              <a:rPr lang="en-US" sz="1200" i="1" dirty="0">
                <a:solidFill>
                  <a:schemeClr val="accent5"/>
                </a:solidFill>
              </a:rPr>
              <a:t>All values were chosen on the 30% calibration split only.</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 1 · Restoring the red light water absorbs</a:t>
            </a:r>
            <a:endParaRPr lang="en-US" sz="3200" dirty="0"/>
          </a:p>
        </p:txBody>
      </p:sp>
      <p:sp>
        <p:nvSpPr>
          <p:cNvPr id="3" name="formula card"/>
          <p:cNvSpPr/>
          <p:nvPr/>
        </p:nvSpPr>
        <p:spPr>
          <a:xfrm>
            <a:off x="548640" y="1371600"/>
            <a:ext cx="5486400" cy="1188720"/>
          </a:xfrm>
          <a:prstGeom prst="roundRect">
            <a:avLst>
              <a:gd name="adj" fmla="val 9231"/>
            </a:avLst>
          </a:prstGeom>
          <a:solidFill>
            <a:schemeClr val="bg2"/>
          </a:solidFill>
          <a:ln w="12700">
            <a:solidFill>
              <a:schemeClr val="bg2"/>
            </a:solidFill>
            <a:prstDash val="solid"/>
          </a:ln>
        </p:spPr>
      </p:sp>
      <p:sp>
        <p:nvSpPr>
          <p:cNvPr id="4" name="formula"/>
          <p:cNvSpPr txBox="1"/>
          <p:nvPr/>
        </p:nvSpPr>
        <p:spPr>
          <a:xfrm>
            <a:off x="822960" y="1371600"/>
            <a:ext cx="4937760" cy="1188720"/>
          </a:xfrm>
          <a:prstGeom prst="rect">
            <a:avLst/>
          </a:prstGeom>
          <a:noFill/>
          <a:ln/>
        </p:spPr>
        <p:txBody>
          <a:bodyPr wrap="square" lIns="0" tIns="0" rIns="0" bIns="0" rtlCol="0" anchor="ctr"/>
          <a:lstStyle/>
          <a:p>
            <a:pPr indent="0" marL="0">
              <a:buNone/>
            </a:pPr>
            <a:r>
              <a:rPr lang="en-US" sz="2200" b="1" dirty="0">
                <a:solidFill>
                  <a:schemeClr val="tx2"/>
                </a:solidFill>
              </a:rPr>
              <a:t>R′ = R + s · (mean G − mean R) · (1 − R) · G</a:t>
            </a:r>
            <a:endParaRPr lang="en-US" sz="2200" dirty="0"/>
          </a:p>
        </p:txBody>
      </p:sp>
      <p:sp>
        <p:nvSpPr>
          <p:cNvPr id="5" name="red bullets"/>
          <p:cNvSpPr txBox="1"/>
          <p:nvPr/>
        </p:nvSpPr>
        <p:spPr>
          <a:xfrm>
            <a:off x="548640" y="2834640"/>
            <a:ext cx="548640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Borrows red from the green channel where green is strong</a:t>
            </a:r>
            <a:endParaRPr lang="en-US" sz="1600" dirty="0"/>
          </a:p>
          <a:p>
            <a:pPr marL="342900" indent="-342900">
              <a:spcAft>
                <a:spcPts val="1000"/>
              </a:spcAft>
              <a:buSzPct val="100000"/>
              <a:buChar char="•"/>
            </a:pPr>
            <a:r>
              <a:rPr lang="en-US" sz="1600" dirty="0">
                <a:solidFill>
                  <a:schemeClr val="tx1"/>
                </a:solidFill>
              </a:rPr>
              <a:t>(1 − R) leaves pixels that are already red untouched</a:t>
            </a:r>
            <a:endParaRPr lang="en-US" sz="1600" dirty="0"/>
          </a:p>
          <a:p>
            <a:pPr marL="342900" indent="-342900">
              <a:spcAft>
                <a:spcPts val="1000"/>
              </a:spcAft>
              <a:buSzPct val="100000"/>
              <a:buChar char="•"/>
            </a:pPr>
            <a:r>
              <a:rPr lang="en-US" sz="1600" dirty="0">
                <a:solidFill>
                  <a:schemeClr val="tx1"/>
                </a:solidFill>
              </a:rPr>
              <a:t>Searched per water type; none beat one global strength (s = 0.75) significantly</a:t>
            </a:r>
            <a:endParaRPr lang="en-US" sz="1600" dirty="0"/>
          </a:p>
          <a:p>
            <a:pPr marL="342900" indent="-342900">
              <a:spcAft>
                <a:spcPts val="1000"/>
              </a:spcAft>
              <a:buSzPct val="100000"/>
              <a:buChar char="•"/>
            </a:pPr>
            <a:r>
              <a:rPr lang="en-US" sz="1600" dirty="0">
                <a:solidFill>
                  <a:schemeClr val="tx1"/>
                </a:solidFill>
              </a:rPr>
              <a:t>Applied before white balance, so balance has real red to work with (Ancuti et al., 2018)</a:t>
            </a:r>
            <a:endParaRPr lang="en-US" sz="1600" dirty="0"/>
          </a:p>
        </p:txBody>
      </p:sp>
      <p:sp>
        <p:nvSpPr>
          <p:cNvPr id="6" name="red stat"/>
          <p:cNvSpPr txBox="1"/>
          <p:nvPr/>
        </p:nvSpPr>
        <p:spPr>
          <a:xfrm>
            <a:off x="6583680" y="1280160"/>
            <a:ext cx="5029200" cy="914400"/>
          </a:xfrm>
          <a:prstGeom prst="rect">
            <a:avLst/>
          </a:prstGeom>
          <a:noFill/>
          <a:ln/>
        </p:spPr>
        <p:txBody>
          <a:bodyPr wrap="square" lIns="0" tIns="0" rIns="0" bIns="0" rtlCol="0" anchor="t"/>
          <a:lstStyle/>
          <a:p>
            <a:pPr indent="0" marL="0">
              <a:buNone/>
            </a:pPr>
            <a:r>
              <a:rPr lang="en-US" sz="6000" b="1" dirty="0">
                <a:solidFill>
                  <a:schemeClr val="accent1"/>
                </a:solidFill>
              </a:rPr>
              <a:t>+0.52 dB</a:t>
            </a:r>
            <a:endParaRPr lang="en-US" sz="6000" dirty="0"/>
          </a:p>
        </p:txBody>
      </p:sp>
      <p:sp>
        <p:nvSpPr>
          <p:cNvPr id="7" name="red stat label"/>
          <p:cNvSpPr txBox="1"/>
          <p:nvPr/>
        </p:nvSpPr>
        <p:spPr>
          <a:xfrm>
            <a:off x="6583680" y="2240280"/>
            <a:ext cx="5029200" cy="731520"/>
          </a:xfrm>
          <a:prstGeom prst="rect">
            <a:avLst/>
          </a:prstGeom>
          <a:noFill/>
          <a:ln/>
        </p:spPr>
        <p:txBody>
          <a:bodyPr wrap="square" lIns="0" tIns="0" rIns="0" bIns="0" rtlCol="0" anchor="t"/>
          <a:lstStyle/>
          <a:p>
            <a:pPr indent="0" marL="0">
              <a:buNone/>
            </a:pPr>
            <a:r>
              <a:rPr lang="en-US" sz="1400" dirty="0">
                <a:solidFill>
                  <a:schemeClr val="tx1"/>
                </a:solidFill>
              </a:rPr>
              <a:t>PSNR on held-out images (95% CI 0.41–0.63), plus +0.024 SSIM — the largest single gain in the project</a:t>
            </a:r>
            <a:endParaRPr lang="en-US" sz="1400" dirty="0"/>
          </a:p>
        </p:txBody>
      </p:sp>
      <p:graphicFrame>
        <p:nvGraphicFramePr>
          <p:cNvPr id="8" name="strength chart" descr=""/>
          <p:cNvGraphicFramePr/>
          <p:nvPr/>
        </p:nvGraphicFramePr>
        <p:xfrm>
          <a:off x="6583680" y="3154680"/>
          <a:ext cx="5029200" cy="3063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Steps 2–4 · Correct the colour, then build two streams</a:t>
            </a:r>
            <a:endParaRPr lang="en-US" sz="3200" dirty="0"/>
          </a:p>
        </p:txBody>
      </p:sp>
      <p:sp>
        <p:nvSpPr>
          <p:cNvPr id="3" name="step 2"/>
          <p:cNvSpPr/>
          <p:nvPr/>
        </p:nvSpPr>
        <p:spPr>
          <a:xfrm>
            <a:off x="548640" y="141732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5" name="Text 3"/>
          <p:cNvSpPr txBox="1"/>
          <p:nvPr/>
        </p:nvSpPr>
        <p:spPr>
          <a:xfrm>
            <a:off x="1280160" y="1435608"/>
            <a:ext cx="3017520" cy="365760"/>
          </a:xfrm>
          <a:prstGeom prst="rect">
            <a:avLst/>
          </a:prstGeom>
          <a:noFill/>
          <a:ln/>
        </p:spPr>
        <p:txBody>
          <a:bodyPr wrap="square" lIns="0" tIns="0" rIns="0" bIns="0" rtlCol="0" anchor="t"/>
          <a:lstStyle/>
          <a:p>
            <a:pPr indent="0" marL="0">
              <a:buNone/>
            </a:pPr>
            <a:r>
              <a:rPr lang="en-US" sz="1800" b="1" dirty="0">
                <a:solidFill>
                  <a:schemeClr val="tx2"/>
                </a:solidFill>
              </a:rPr>
              <a:t>White balance</a:t>
            </a:r>
            <a:endParaRPr lang="en-US" sz="1800" dirty="0"/>
          </a:p>
        </p:txBody>
      </p:sp>
      <p:sp>
        <p:nvSpPr>
          <p:cNvPr id="6" name="Text 4"/>
          <p:cNvSpPr txBox="1"/>
          <p:nvPr/>
        </p:nvSpPr>
        <p:spPr>
          <a:xfrm>
            <a:off x="1280160" y="1828800"/>
            <a:ext cx="3017520" cy="960120"/>
          </a:xfrm>
          <a:prstGeom prst="rect">
            <a:avLst/>
          </a:prstGeom>
          <a:noFill/>
          <a:ln/>
        </p:spPr>
        <p:txBody>
          <a:bodyPr wrap="square" lIns="0" tIns="0" rIns="0" bIns="0" rtlCol="0" anchor="t"/>
          <a:lstStyle/>
          <a:p>
            <a:pPr indent="0" marL="0">
              <a:buNone/>
            </a:pPr>
            <a:r>
              <a:rPr lang="en-US" sz="1400" dirty="0">
                <a:solidFill>
                  <a:schemeClr val="tx1"/>
                </a:solidFill>
              </a:rPr>
              <a:t>Gray-world gains make the average colour neutral; each channel at most doubled or halved.</a:t>
            </a:r>
            <a:endParaRPr lang="en-US" sz="1400" dirty="0"/>
          </a:p>
        </p:txBody>
      </p:sp>
      <p:sp>
        <p:nvSpPr>
          <p:cNvPr id="7" name="step 3"/>
          <p:cNvSpPr/>
          <p:nvPr/>
        </p:nvSpPr>
        <p:spPr>
          <a:xfrm>
            <a:off x="548640" y="292608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548640" y="2926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7"/>
          <p:cNvSpPr txBox="1"/>
          <p:nvPr/>
        </p:nvSpPr>
        <p:spPr>
          <a:xfrm>
            <a:off x="1280160" y="2944368"/>
            <a:ext cx="3017520" cy="365760"/>
          </a:xfrm>
          <a:prstGeom prst="rect">
            <a:avLst/>
          </a:prstGeom>
          <a:noFill/>
          <a:ln/>
        </p:spPr>
        <p:txBody>
          <a:bodyPr wrap="square" lIns="0" tIns="0" rIns="0" bIns="0" rtlCol="0" anchor="t"/>
          <a:lstStyle/>
          <a:p>
            <a:pPr indent="0" marL="0">
              <a:buNone/>
            </a:pPr>
            <a:r>
              <a:rPr lang="en-US" sz="1800" b="1" dirty="0">
                <a:solidFill>
                  <a:schemeClr val="tx2"/>
                </a:solidFill>
              </a:rPr>
              <a:t>Adaptive gamma</a:t>
            </a:r>
            <a:endParaRPr lang="en-US" sz="1800" dirty="0"/>
          </a:p>
        </p:txBody>
      </p:sp>
      <p:sp>
        <p:nvSpPr>
          <p:cNvPr id="10" name="Text 8"/>
          <p:cNvSpPr txBox="1"/>
          <p:nvPr/>
        </p:nvSpPr>
        <p:spPr>
          <a:xfrm>
            <a:off x="1280160" y="3337560"/>
            <a:ext cx="3017520" cy="960120"/>
          </a:xfrm>
          <a:prstGeom prst="rect">
            <a:avLst/>
          </a:prstGeom>
          <a:noFill/>
          <a:ln/>
        </p:spPr>
        <p:txBody>
          <a:bodyPr wrap="square" lIns="0" tIns="0" rIns="0" bIns="0" rtlCol="0" anchor="t"/>
          <a:lstStyle/>
          <a:p>
            <a:pPr indent="0" marL="0">
              <a:buNone/>
            </a:pPr>
            <a:r>
              <a:rPr lang="en-US" sz="1400" dirty="0">
                <a:solidFill>
                  <a:schemeClr val="tx1"/>
                </a:solidFill>
              </a:rPr>
              <a:t>A gamma curve sets overall brightness (here γ = 1.14).</a:t>
            </a:r>
            <a:endParaRPr lang="en-US" sz="1400" dirty="0"/>
          </a:p>
        </p:txBody>
      </p:sp>
      <p:sp>
        <p:nvSpPr>
          <p:cNvPr id="11" name="step 4"/>
          <p:cNvSpPr/>
          <p:nvPr/>
        </p:nvSpPr>
        <p:spPr>
          <a:xfrm>
            <a:off x="548640" y="443484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548640" y="4434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Text 11"/>
          <p:cNvSpPr txBox="1"/>
          <p:nvPr/>
        </p:nvSpPr>
        <p:spPr>
          <a:xfrm>
            <a:off x="1280160" y="4453128"/>
            <a:ext cx="3017520" cy="365760"/>
          </a:xfrm>
          <a:prstGeom prst="rect">
            <a:avLst/>
          </a:prstGeom>
          <a:noFill/>
          <a:ln/>
        </p:spPr>
        <p:txBody>
          <a:bodyPr wrap="square" lIns="0" tIns="0" rIns="0" bIns="0" rtlCol="0" anchor="t"/>
          <a:lstStyle/>
          <a:p>
            <a:pPr indent="0" marL="0">
              <a:buNone/>
            </a:pPr>
            <a:r>
              <a:rPr lang="en-US" sz="1800" b="1" dirty="0">
                <a:solidFill>
                  <a:schemeClr val="tx2"/>
                </a:solidFill>
              </a:rPr>
              <a:t>Two streams</a:t>
            </a:r>
            <a:endParaRPr lang="en-US" sz="1800" dirty="0"/>
          </a:p>
        </p:txBody>
      </p:sp>
      <p:sp>
        <p:nvSpPr>
          <p:cNvPr id="14" name="Text 12"/>
          <p:cNvSpPr txBox="1"/>
          <p:nvPr/>
        </p:nvSpPr>
        <p:spPr>
          <a:xfrm>
            <a:off x="1280160" y="4846320"/>
            <a:ext cx="3017520" cy="960120"/>
          </a:xfrm>
          <a:prstGeom prst="rect">
            <a:avLst/>
          </a:prstGeom>
          <a:noFill/>
          <a:ln/>
        </p:spPr>
        <p:txBody>
          <a:bodyPr wrap="square" lIns="0" tIns="0" rIns="0" bIns="0" rtlCol="0" anchor="t"/>
          <a:lstStyle/>
          <a:p>
            <a:pPr indent="0" marL="0">
              <a:buNone/>
            </a:pPr>
            <a:r>
              <a:rPr lang="en-US" sz="1400" dirty="0">
                <a:solidFill>
                  <a:schemeClr val="tx1"/>
                </a:solidFill>
              </a:rPr>
              <a:t>The corrected image is processed two complementary ways, then fused.</a:t>
            </a:r>
            <a:endParaRPr lang="en-US" sz="1400" dirty="0"/>
          </a:p>
        </p:txBody>
      </p:sp>
      <p:pic>
        <p:nvPicPr>
          <p:cNvPr id="15" name="stream 0" descr="scripts/presentation/build/img/794_img__stage_clahe_stream.jpg">    </p:cNvPr>
          <p:cNvPicPr>
            <a:picLocks noChangeAspect="1"/>
          </p:cNvPicPr>
          <p:nvPr/>
        </p:nvPicPr>
        <p:blipFill>
          <a:blip r:embed="rId1"/>
          <a:stretch>
            <a:fillRect/>
          </a:stretch>
        </p:blipFill>
        <p:spPr>
          <a:xfrm>
            <a:off x="4572000" y="1371600"/>
            <a:ext cx="3398368" cy="2382840"/>
          </a:xfrm>
          <a:prstGeom prst="rect">
            <a:avLst/>
          </a:prstGeom>
        </p:spPr>
      </p:pic>
      <p:sp>
        <p:nvSpPr>
          <p:cNvPr id="16" name="Text 13"/>
          <p:cNvSpPr txBox="1"/>
          <p:nvPr/>
        </p:nvSpPr>
        <p:spPr>
          <a:xfrm>
            <a:off x="4572000" y="3891600"/>
            <a:ext cx="3398368" cy="365760"/>
          </a:xfrm>
          <a:prstGeom prst="rect">
            <a:avLst/>
          </a:prstGeom>
          <a:noFill/>
          <a:ln/>
        </p:spPr>
        <p:txBody>
          <a:bodyPr wrap="square" lIns="0" tIns="0" rIns="0" bIns="0" rtlCol="0" anchor="t"/>
          <a:lstStyle/>
          <a:p>
            <a:pPr indent="0" marL="0">
              <a:buNone/>
            </a:pPr>
            <a:r>
              <a:rPr lang="en-US" sz="1600" b="1" dirty="0">
                <a:solidFill>
                  <a:schemeClr val="tx2"/>
                </a:solidFill>
              </a:rPr>
              <a:t>4a · CLAHE on lightness (L*)</a:t>
            </a:r>
            <a:endParaRPr lang="en-US" sz="1600" dirty="0"/>
          </a:p>
        </p:txBody>
      </p:sp>
      <p:sp>
        <p:nvSpPr>
          <p:cNvPr id="17" name="Text 14"/>
          <p:cNvSpPr txBox="1"/>
          <p:nvPr/>
        </p:nvSpPr>
        <p:spPr>
          <a:xfrm>
            <a:off x="4572000" y="4284792"/>
            <a:ext cx="3398368" cy="685800"/>
          </a:xfrm>
          <a:prstGeom prst="rect">
            <a:avLst/>
          </a:prstGeom>
          <a:noFill/>
          <a:ln/>
        </p:spPr>
        <p:txBody>
          <a:bodyPr wrap="square" lIns="0" tIns="0" rIns="0" bIns="0" rtlCol="0" anchor="t"/>
          <a:lstStyle/>
          <a:p>
            <a:pPr indent="0" marL="0">
              <a:buNone/>
            </a:pPr>
            <a:r>
              <a:rPr lang="en-US" sz="1400" dirty="0">
                <a:solidFill>
                  <a:schemeClr val="tx1"/>
                </a:solidFill>
              </a:rPr>
              <a:t>Equalises contrast tile by tile on L* only, so colours don't shift.</a:t>
            </a:r>
            <a:endParaRPr lang="en-US" sz="1400" dirty="0"/>
          </a:p>
        </p:txBody>
      </p:sp>
      <p:sp>
        <p:nvSpPr>
          <p:cNvPr id="18" name="Text 15"/>
          <p:cNvSpPr txBox="1"/>
          <p:nvPr/>
        </p:nvSpPr>
        <p:spPr>
          <a:xfrm>
            <a:off x="4572000" y="4988880"/>
            <a:ext cx="3398368" cy="640080"/>
          </a:xfrm>
          <a:prstGeom prst="rect">
            <a:avLst/>
          </a:prstGeom>
          <a:noFill/>
          <a:ln/>
        </p:spPr>
        <p:txBody>
          <a:bodyPr wrap="square" lIns="0" tIns="0" rIns="0" bIns="0" rtlCol="0" anchor="t"/>
          <a:lstStyle/>
          <a:p>
            <a:pPr indent="0" marL="0">
              <a:buNone/>
            </a:pPr>
            <a:r>
              <a:rPr lang="en-US" sz="1400" b="1" dirty="0">
                <a:solidFill>
                  <a:schemeClr val="accent3"/>
                </a:solidFill>
              </a:rPr>
              <a:t>+ recovers texture and detail</a:t>
            </a:r>
            <a:endParaRPr lang="en-US" sz="1400" dirty="0"/>
          </a:p>
          <a:p>
            <a:pPr indent="0" marL="0">
              <a:buNone/>
            </a:pPr>
            <a:r>
              <a:rPr lang="en-US" sz="1400" b="1" dirty="0">
                <a:solidFill>
                  <a:schemeClr val="accent2"/>
                </a:solidFill>
              </a:rPr>
              <a:t>− greyish and noisy on its own</a:t>
            </a:r>
            <a:endParaRPr lang="en-US" sz="1400" dirty="0"/>
          </a:p>
        </p:txBody>
      </p:sp>
      <p:pic>
        <p:nvPicPr>
          <p:cNvPr id="19" name="stream 1" descr="scripts/presentation/build/img/794_img__stage_dehazed_stream.jpg">    </p:cNvPr>
          <p:cNvPicPr>
            <a:picLocks noChangeAspect="1"/>
          </p:cNvPicPr>
          <p:nvPr/>
        </p:nvPicPr>
        <p:blipFill>
          <a:blip r:embed="rId2"/>
          <a:stretch>
            <a:fillRect/>
          </a:stretch>
        </p:blipFill>
        <p:spPr>
          <a:xfrm>
            <a:off x="8244688" y="1371600"/>
            <a:ext cx="3398368" cy="2382840"/>
          </a:xfrm>
          <a:prstGeom prst="rect">
            <a:avLst/>
          </a:prstGeom>
        </p:spPr>
      </p:pic>
      <p:sp>
        <p:nvSpPr>
          <p:cNvPr id="20" name="Text 16"/>
          <p:cNvSpPr txBox="1"/>
          <p:nvPr/>
        </p:nvSpPr>
        <p:spPr>
          <a:xfrm>
            <a:off x="8244688" y="3891600"/>
            <a:ext cx="3398368" cy="365760"/>
          </a:xfrm>
          <a:prstGeom prst="rect">
            <a:avLst/>
          </a:prstGeom>
          <a:noFill/>
          <a:ln/>
        </p:spPr>
        <p:txBody>
          <a:bodyPr wrap="square" lIns="0" tIns="0" rIns="0" bIns="0" rtlCol="0" anchor="t"/>
          <a:lstStyle/>
          <a:p>
            <a:pPr indent="0" marL="0">
              <a:buNone/>
            </a:pPr>
            <a:r>
              <a:rPr lang="en-US" sz="1600" b="1" dirty="0">
                <a:solidFill>
                  <a:schemeClr val="tx2"/>
                </a:solidFill>
              </a:rPr>
              <a:t>4b · Underwater dark channel prior</a:t>
            </a:r>
            <a:endParaRPr lang="en-US" sz="1600" dirty="0"/>
          </a:p>
        </p:txBody>
      </p:sp>
      <p:sp>
        <p:nvSpPr>
          <p:cNvPr id="21" name="Text 17"/>
          <p:cNvSpPr txBox="1"/>
          <p:nvPr/>
        </p:nvSpPr>
        <p:spPr>
          <a:xfrm>
            <a:off x="8244688" y="4284792"/>
            <a:ext cx="3398368" cy="685800"/>
          </a:xfrm>
          <a:prstGeom prst="rect">
            <a:avLst/>
          </a:prstGeom>
          <a:noFill/>
          <a:ln/>
        </p:spPr>
        <p:txBody>
          <a:bodyPr wrap="square" lIns="0" tIns="0" rIns="0" bIns="0" rtlCol="0" anchor="t"/>
          <a:lstStyle/>
          <a:p>
            <a:pPr indent="0" marL="0">
              <a:buNone/>
            </a:pPr>
            <a:r>
              <a:rPr lang="en-US" sz="1400" dirty="0">
                <a:solidFill>
                  <a:schemeClr val="tx1"/>
                </a:solidFill>
              </a:rPr>
              <a:t>Estimates haze per pixel from the G/B dark channel, then removes it.</a:t>
            </a:r>
            <a:endParaRPr lang="en-US" sz="1400" dirty="0"/>
          </a:p>
        </p:txBody>
      </p:sp>
      <p:sp>
        <p:nvSpPr>
          <p:cNvPr id="22" name="Text 18"/>
          <p:cNvSpPr txBox="1"/>
          <p:nvPr/>
        </p:nvSpPr>
        <p:spPr>
          <a:xfrm>
            <a:off x="8244688" y="4988880"/>
            <a:ext cx="3398368" cy="640080"/>
          </a:xfrm>
          <a:prstGeom prst="rect">
            <a:avLst/>
          </a:prstGeom>
          <a:noFill/>
          <a:ln/>
        </p:spPr>
        <p:txBody>
          <a:bodyPr wrap="square" lIns="0" tIns="0" rIns="0" bIns="0" rtlCol="0" anchor="t"/>
          <a:lstStyle/>
          <a:p>
            <a:pPr indent="0" marL="0">
              <a:buNone/>
            </a:pPr>
            <a:r>
              <a:rPr lang="en-US" sz="1400" b="1" dirty="0">
                <a:solidFill>
                  <a:schemeClr val="accent3"/>
                </a:solidFill>
              </a:rPr>
              <a:t>+ removes haze, restores depth</a:t>
            </a:r>
            <a:endParaRPr lang="en-US" sz="1400" dirty="0"/>
          </a:p>
          <a:p>
            <a:pPr indent="0" marL="0">
              <a:buNone/>
            </a:pPr>
            <a:r>
              <a:rPr lang="en-US" sz="1400" b="1" dirty="0">
                <a:solidFill>
                  <a:schemeClr val="accent2"/>
                </a:solidFill>
              </a:rPr>
              <a:t>− darker and more saturated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Steps 5–6 · Blending the streams per image</a:t>
            </a:r>
            <a:endParaRPr lang="en-US" sz="3200" dirty="0"/>
          </a:p>
        </p:txBody>
      </p:sp>
      <p:pic>
        <p:nvPicPr>
          <p:cNvPr id="3" name="fused" descr="scripts/presentation/build/img/794_img__stage_restored.jpg">    </p:cNvPr>
          <p:cNvPicPr>
            <a:picLocks noChangeAspect="1"/>
          </p:cNvPicPr>
          <p:nvPr/>
        </p:nvPicPr>
        <p:blipFill>
          <a:blip r:embed="rId1"/>
          <a:stretch>
            <a:fillRect/>
          </a:stretch>
        </p:blipFill>
        <p:spPr>
          <a:xfrm>
            <a:off x="548640" y="1371600"/>
            <a:ext cx="4754880" cy="3333988"/>
          </a:xfrm>
          <a:prstGeom prst="rect">
            <a:avLst/>
          </a:prstGeom>
        </p:spPr>
      </p:pic>
      <p:sp>
        <p:nvSpPr>
          <p:cNvPr id="4" name="Text 1"/>
          <p:cNvSpPr txBox="1"/>
          <p:nvPr/>
        </p:nvSpPr>
        <p:spPr>
          <a:xfrm>
            <a:off x="548640" y="4815316"/>
            <a:ext cx="4754880" cy="320040"/>
          </a:xfrm>
          <a:prstGeom prst="rect">
            <a:avLst/>
          </a:prstGeom>
          <a:noFill/>
          <a:ln/>
        </p:spPr>
        <p:txBody>
          <a:bodyPr wrap="square" lIns="0" tIns="0" rIns="0" bIns="0" rtlCol="0" anchor="t"/>
          <a:lstStyle/>
          <a:p>
            <a:pPr indent="0" marL="0">
              <a:buNone/>
            </a:pPr>
            <a:r>
              <a:rPr lang="en-US" sz="1200" dirty="0">
                <a:solidFill>
                  <a:schemeClr val="accent5"/>
                </a:solidFill>
              </a:rPr>
              <a:t>Fused result · predicted α = 0.49 (a roughly even blend)</a:t>
            </a:r>
            <a:endParaRPr lang="en-US" sz="1200" dirty="0"/>
          </a:p>
        </p:txBody>
      </p:sp>
      <p:sp>
        <p:nvSpPr>
          <p:cNvPr id="5" name="fusion bullets"/>
          <p:cNvSpPr txBox="1"/>
          <p:nvPr/>
        </p:nvSpPr>
        <p:spPr>
          <a:xfrm>
            <a:off x="548640" y="5254228"/>
            <a:ext cx="475488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α predicted from 26 no-reference statistics</a:t>
            </a:r>
            <a:endParaRPr lang="en-US" sz="1400" dirty="0"/>
          </a:p>
          <a:p>
            <a:pPr marL="342900" indent="-342900">
              <a:spcAft>
                <a:spcPts val="400"/>
              </a:spcAft>
              <a:buSzPct val="100000"/>
              <a:buChar char="•"/>
            </a:pPr>
            <a:r>
              <a:rPr lang="en-US" sz="1400" dirty="0">
                <a:solidFill>
                  <a:schemeClr val="tx1"/>
                </a:solidFill>
              </a:rPr>
              <a:t>Per-pixel weights: contrast × saturation × saliency</a:t>
            </a:r>
            <a:endParaRPr lang="en-US" sz="1400" dirty="0"/>
          </a:p>
          <a:p>
            <a:pPr marL="342900" indent="-342900">
              <a:spcAft>
                <a:spcPts val="400"/>
              </a:spcAft>
              <a:buSzPct val="100000"/>
              <a:buChar char="•"/>
            </a:pPr>
            <a:r>
              <a:rPr lang="en-US" sz="1400" dirty="0">
                <a:solidFill>
                  <a:schemeClr val="tx1"/>
                </a:solidFill>
              </a:rPr>
              <a:t>5-level Laplacian pyramid, so no seams</a:t>
            </a:r>
            <a:endParaRPr lang="en-US" sz="1400" dirty="0"/>
          </a:p>
        </p:txBody>
      </p:sp>
      <p:graphicFrame>
        <p:nvGraphicFramePr>
          <p:cNvPr id="6" name="alpha chart" descr=""/>
          <p:cNvGraphicFramePr/>
          <p:nvPr/>
        </p:nvGraphicFramePr>
        <p:xfrm>
          <a:off x="5852160" y="1325880"/>
          <a:ext cx="5790895" cy="3566160"/>
        </p:xfrm>
        <a:graphic xmlns:a="http://schemas.openxmlformats.org/drawingml/2006/main">
          <a:graphicData uri="http://schemas.openxmlformats.org/drawingml/2006/chart">
            <c:chart xmlns:c="http://schemas.openxmlformats.org/drawingml/2006/chart" r:id="rId2"/>
          </a:graphicData>
        </a:graphic>
      </p:graphicFrame>
      <p:sp>
        <p:nvSpPr>
          <p:cNvPr id="7" name="alpha note"/>
          <p:cNvSpPr txBox="1"/>
          <p:nvPr/>
        </p:nvSpPr>
        <p:spPr>
          <a:xfrm>
            <a:off x="5852160" y="5029200"/>
            <a:ext cx="5790895" cy="1097280"/>
          </a:xfrm>
          <a:prstGeom prst="rect">
            <a:avLst/>
          </a:prstGeom>
          <a:noFill/>
          <a:ln/>
        </p:spPr>
        <p:txBody>
          <a:bodyPr wrap="square" lIns="0" tIns="0" rIns="0" bIns="0" rtlCol="0" anchor="t"/>
          <a:lstStyle/>
          <a:p>
            <a:pPr indent="0" marL="0">
              <a:buNone/>
            </a:pPr>
            <a:r>
              <a:rPr lang="en-US" sz="1400" dirty="0">
                <a:solidFill>
                  <a:schemeClr val="tx1"/>
                </a:solidFill>
              </a:rPr>
              <a:t>Per-image α has real headroom (+0.64 dB with the oracle). The predictor captures about 17% of it, needing no reference at run time. Axis starts at 17 dB to show the gap.</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Evaluation: tune on 30%, report on 70%</a:t>
            </a:r>
            <a:endParaRPr lang="en-US" sz="3200" dirty="0"/>
          </a:p>
        </p:txBody>
      </p:sp>
      <p:sp>
        <p:nvSpPr>
          <p:cNvPr id="3" name="cal stat card"/>
          <p:cNvSpPr/>
          <p:nvPr/>
        </p:nvSpPr>
        <p:spPr>
          <a:xfrm>
            <a:off x="548640" y="1371600"/>
            <a:ext cx="3383280" cy="2240280"/>
          </a:xfrm>
          <a:prstGeom prst="roundRect">
            <a:avLst>
              <a:gd name="adj" fmla="val 4898"/>
            </a:avLst>
          </a:prstGeom>
          <a:solidFill>
            <a:schemeClr val="bg2"/>
          </a:solidFill>
          <a:ln w="12700">
            <a:solidFill>
              <a:schemeClr val="bg2"/>
            </a:solidFill>
            <a:prstDash val="solid"/>
          </a:ln>
        </p:spPr>
      </p:sp>
      <p:sp>
        <p:nvSpPr>
          <p:cNvPr id="4" name="Text 2"/>
          <p:cNvSpPr txBox="1"/>
          <p:nvPr/>
        </p:nvSpPr>
        <p:spPr>
          <a:xfrm>
            <a:off x="868680" y="1508760"/>
            <a:ext cx="2743200" cy="1005840"/>
          </a:xfrm>
          <a:prstGeom prst="rect">
            <a:avLst/>
          </a:prstGeom>
          <a:noFill/>
          <a:ln/>
        </p:spPr>
        <p:txBody>
          <a:bodyPr wrap="square" lIns="0" tIns="0" rIns="0" bIns="0" rtlCol="0" anchor="t"/>
          <a:lstStyle/>
          <a:p>
            <a:pPr indent="0" marL="0">
              <a:buNone/>
            </a:pPr>
            <a:r>
              <a:rPr lang="en-US" sz="6000" b="1" dirty="0">
                <a:solidFill>
                  <a:schemeClr val="accent1"/>
                </a:solidFill>
              </a:rPr>
              <a:t>268</a:t>
            </a:r>
            <a:endParaRPr lang="en-US" sz="6000" dirty="0"/>
          </a:p>
        </p:txBody>
      </p:sp>
      <p:sp>
        <p:nvSpPr>
          <p:cNvPr id="5" name="Text 3"/>
          <p:cNvSpPr txBox="1"/>
          <p:nvPr/>
        </p:nvSpPr>
        <p:spPr>
          <a:xfrm>
            <a:off x="868680" y="2606040"/>
            <a:ext cx="2743200" cy="822960"/>
          </a:xfrm>
          <a:prstGeom prst="rect">
            <a:avLst/>
          </a:prstGeom>
          <a:noFill/>
          <a:ln/>
        </p:spPr>
        <p:txBody>
          <a:bodyPr wrap="square" lIns="0" tIns="0" rIns="0" bIns="0" rtlCol="0" anchor="t"/>
          <a:lstStyle/>
          <a:p>
            <a:pPr indent="0" marL="0">
              <a:buNone/>
            </a:pPr>
            <a:r>
              <a:rPr lang="en-US" sz="1400" dirty="0">
                <a:solidFill>
                  <a:schemeClr val="tx1"/>
                </a:solidFill>
              </a:rPr>
              <a:t>calibration images · every parameter is chosen here</a:t>
            </a:r>
            <a:endParaRPr lang="en-US" sz="1400" dirty="0"/>
          </a:p>
        </p:txBody>
      </p:sp>
      <p:sp>
        <p:nvSpPr>
          <p:cNvPr id="6" name="test stat card"/>
          <p:cNvSpPr/>
          <p:nvPr/>
        </p:nvSpPr>
        <p:spPr>
          <a:xfrm>
            <a:off x="548640" y="3840480"/>
            <a:ext cx="3383280" cy="2240280"/>
          </a:xfrm>
          <a:prstGeom prst="roundRect">
            <a:avLst>
              <a:gd name="adj" fmla="val 4898"/>
            </a:avLst>
          </a:prstGeom>
          <a:solidFill>
            <a:schemeClr val="bg2"/>
          </a:solidFill>
          <a:ln w="12700">
            <a:solidFill>
              <a:schemeClr val="bg2"/>
            </a:solidFill>
            <a:prstDash val="solid"/>
          </a:ln>
        </p:spPr>
      </p:sp>
      <p:sp>
        <p:nvSpPr>
          <p:cNvPr id="7" name="Text 5"/>
          <p:cNvSpPr txBox="1"/>
          <p:nvPr/>
        </p:nvSpPr>
        <p:spPr>
          <a:xfrm>
            <a:off x="868680" y="3977640"/>
            <a:ext cx="2743200" cy="1005840"/>
          </a:xfrm>
          <a:prstGeom prst="rect">
            <a:avLst/>
          </a:prstGeom>
          <a:noFill/>
          <a:ln/>
        </p:spPr>
        <p:txBody>
          <a:bodyPr wrap="square" lIns="0" tIns="0" rIns="0" bIns="0" rtlCol="0" anchor="t"/>
          <a:lstStyle/>
          <a:p>
            <a:pPr indent="0" marL="0">
              <a:buNone/>
            </a:pPr>
            <a:r>
              <a:rPr lang="en-US" sz="6000" b="1" dirty="0">
                <a:solidFill>
                  <a:schemeClr val="accent1"/>
                </a:solidFill>
              </a:rPr>
              <a:t>622</a:t>
            </a:r>
            <a:endParaRPr lang="en-US" sz="6000" dirty="0"/>
          </a:p>
        </p:txBody>
      </p:sp>
      <p:sp>
        <p:nvSpPr>
          <p:cNvPr id="8" name="Text 6"/>
          <p:cNvSpPr txBox="1"/>
          <p:nvPr/>
        </p:nvSpPr>
        <p:spPr>
          <a:xfrm>
            <a:off x="868680" y="5074920"/>
            <a:ext cx="2743200" cy="822960"/>
          </a:xfrm>
          <a:prstGeom prst="rect">
            <a:avLst/>
          </a:prstGeom>
          <a:noFill/>
          <a:ln/>
        </p:spPr>
        <p:txBody>
          <a:bodyPr wrap="square" lIns="0" tIns="0" rIns="0" bIns="0" rtlCol="0" anchor="t"/>
          <a:lstStyle/>
          <a:p>
            <a:pPr indent="0" marL="0">
              <a:buNone/>
            </a:pPr>
            <a:r>
              <a:rPr lang="en-US" sz="1400" dirty="0">
                <a:solidFill>
                  <a:schemeClr val="tx1"/>
                </a:solidFill>
              </a:rPr>
              <a:t>held-out test images · every reported number comes from here</a:t>
            </a:r>
            <a:endParaRPr lang="en-US" sz="1400" dirty="0"/>
          </a:p>
        </p:txBody>
      </p:sp>
      <p:sp>
        <p:nvSpPr>
          <p:cNvPr id="9" name="protocol 1 circle"/>
          <p:cNvSpPr/>
          <p:nvPr/>
        </p:nvSpPr>
        <p:spPr>
          <a:xfrm>
            <a:off x="4389120" y="1417320"/>
            <a:ext cx="640080" cy="640080"/>
          </a:xfrm>
          <a:prstGeom prst="ellipse">
            <a:avLst/>
          </a:prstGeom>
          <a:solidFill>
            <a:schemeClr val="accent1"/>
          </a:solidFill>
          <a:ln w="12700">
            <a:solidFill>
              <a:schemeClr val="accent1"/>
            </a:solidFill>
            <a:prstDash val="solid"/>
          </a:ln>
        </p:spPr>
      </p:sp>
      <p:pic>
        <p:nvPicPr>
          <p:cNvPr id="10" name="protocol 1 glyph" descr="preencoded.png">    </p:cNvPr>
          <p:cNvPicPr>
            <a:picLocks noChangeAspect="1"/>
          </p:cNvPicPr>
          <p:nvPr/>
        </p:nvPicPr>
        <p:blipFill>
          <a:blip r:embed="rId1"/>
          <a:stretch>
            <a:fillRect/>
          </a:stretch>
        </p:blipFill>
        <p:spPr>
          <a:xfrm>
            <a:off x="4529938" y="1558138"/>
            <a:ext cx="358445" cy="358445"/>
          </a:xfrm>
          <a:prstGeom prst="rect">
            <a:avLst/>
          </a:prstGeom>
        </p:spPr>
      </p:pic>
      <p:sp>
        <p:nvSpPr>
          <p:cNvPr id="11" name="Text 8"/>
          <p:cNvSpPr txBox="1"/>
          <p:nvPr/>
        </p:nvSpPr>
        <p:spPr>
          <a:xfrm>
            <a:off x="5257800" y="1371600"/>
            <a:ext cx="6385255" cy="365760"/>
          </a:xfrm>
          <a:prstGeom prst="rect">
            <a:avLst/>
          </a:prstGeom>
          <a:noFill/>
          <a:ln/>
        </p:spPr>
        <p:txBody>
          <a:bodyPr wrap="square" lIns="0" tIns="0" rIns="0" bIns="0" rtlCol="0" anchor="t"/>
          <a:lstStyle/>
          <a:p>
            <a:pPr indent="0" marL="0">
              <a:buNone/>
            </a:pPr>
            <a:r>
              <a:rPr lang="en-US" sz="1800" b="1" dirty="0">
                <a:solidFill>
                  <a:schemeClr val="tx2"/>
                </a:solidFill>
              </a:rPr>
              <a:t>Three calibration stages</a:t>
            </a:r>
            <a:endParaRPr lang="en-US" sz="1800" dirty="0"/>
          </a:p>
        </p:txBody>
      </p:sp>
      <p:sp>
        <p:nvSpPr>
          <p:cNvPr id="12" name="Text 9"/>
          <p:cNvSpPr txBox="1"/>
          <p:nvPr/>
        </p:nvSpPr>
        <p:spPr>
          <a:xfrm>
            <a:off x="5257800" y="1755648"/>
            <a:ext cx="6385255" cy="685800"/>
          </a:xfrm>
          <a:prstGeom prst="rect">
            <a:avLst/>
          </a:prstGeom>
          <a:noFill/>
          <a:ln/>
        </p:spPr>
        <p:txBody>
          <a:bodyPr wrap="square" lIns="0" tIns="0" rIns="0" bIns="0" rtlCol="0" anchor="t"/>
          <a:lstStyle/>
          <a:p>
            <a:pPr indent="0" marL="0">
              <a:buNone/>
            </a:pPr>
            <a:r>
              <a:rPr lang="en-US" sz="1400" dirty="0">
                <a:solidFill>
                  <a:schemeClr val="tx1"/>
                </a:solidFill>
              </a:rPr>
              <a:t>Profile multipliers, red-compensation strength, then the Module 7 model — all on the calibration split, scored by PSNR and SSIM.</a:t>
            </a:r>
            <a:endParaRPr lang="en-US" sz="1400" dirty="0"/>
          </a:p>
        </p:txBody>
      </p:sp>
      <p:sp>
        <p:nvSpPr>
          <p:cNvPr id="13" name="protocol 2 circle"/>
          <p:cNvSpPr/>
          <p:nvPr/>
        </p:nvSpPr>
        <p:spPr>
          <a:xfrm>
            <a:off x="4389120" y="2606040"/>
            <a:ext cx="640080" cy="640080"/>
          </a:xfrm>
          <a:prstGeom prst="ellipse">
            <a:avLst/>
          </a:prstGeom>
          <a:solidFill>
            <a:schemeClr val="accent1"/>
          </a:solidFill>
          <a:ln w="12700">
            <a:solidFill>
              <a:schemeClr val="accent1"/>
            </a:solidFill>
            <a:prstDash val="solid"/>
          </a:ln>
        </p:spPr>
      </p:sp>
      <p:pic>
        <p:nvPicPr>
          <p:cNvPr id="14" name="protocol 2 glyph" descr="preencoded.png">    </p:cNvPr>
          <p:cNvPicPr>
            <a:picLocks noChangeAspect="1"/>
          </p:cNvPicPr>
          <p:nvPr/>
        </p:nvPicPr>
        <p:blipFill>
          <a:blip r:embed="rId2"/>
          <a:stretch>
            <a:fillRect/>
          </a:stretch>
        </p:blipFill>
        <p:spPr>
          <a:xfrm>
            <a:off x="4529938" y="2746858"/>
            <a:ext cx="358445" cy="358445"/>
          </a:xfrm>
          <a:prstGeom prst="rect">
            <a:avLst/>
          </a:prstGeom>
        </p:spPr>
      </p:pic>
      <p:sp>
        <p:nvSpPr>
          <p:cNvPr id="15" name="Text 11"/>
          <p:cNvSpPr txBox="1"/>
          <p:nvPr/>
        </p:nvSpPr>
        <p:spPr>
          <a:xfrm>
            <a:off x="5257800" y="2560320"/>
            <a:ext cx="6385255" cy="365760"/>
          </a:xfrm>
          <a:prstGeom prst="rect">
            <a:avLst/>
          </a:prstGeom>
          <a:noFill/>
          <a:ln/>
        </p:spPr>
        <p:txBody>
          <a:bodyPr wrap="square" lIns="0" tIns="0" rIns="0" bIns="0" rtlCol="0" anchor="t"/>
          <a:lstStyle/>
          <a:p>
            <a:pPr indent="0" marL="0">
              <a:buNone/>
            </a:pPr>
            <a:r>
              <a:rPr lang="en-US" sz="1800" b="1" dirty="0">
                <a:solidFill>
                  <a:schemeClr val="tx2"/>
                </a:solidFill>
              </a:rPr>
              <a:t>Fair ablation</a:t>
            </a:r>
            <a:endParaRPr lang="en-US" sz="1800" dirty="0"/>
          </a:p>
        </p:txBody>
      </p:sp>
      <p:sp>
        <p:nvSpPr>
          <p:cNvPr id="16" name="Text 12"/>
          <p:cNvSpPr txBox="1"/>
          <p:nvPr/>
        </p:nvSpPr>
        <p:spPr>
          <a:xfrm>
            <a:off x="5257800" y="2944368"/>
            <a:ext cx="6385255" cy="685800"/>
          </a:xfrm>
          <a:prstGeom prst="rect">
            <a:avLst/>
          </a:prstGeom>
          <a:noFill/>
          <a:ln/>
        </p:spPr>
        <p:txBody>
          <a:bodyPr wrap="square" lIns="0" tIns="0" rIns="0" bIns="0" rtlCol="0" anchor="t"/>
          <a:lstStyle/>
          <a:p>
            <a:pPr indent="0" marL="0">
              <a:buNone/>
            </a:pPr>
            <a:r>
              <a:rPr lang="en-US" sz="1400" dirty="0">
                <a:solidFill>
                  <a:schemeClr val="tx1"/>
                </a:solidFill>
              </a:rPr>
              <a:t>Routing off means one global profile tuned with the same grid and data, not untuned defaults.</a:t>
            </a:r>
            <a:endParaRPr lang="en-US" sz="1400" dirty="0"/>
          </a:p>
        </p:txBody>
      </p:sp>
      <p:sp>
        <p:nvSpPr>
          <p:cNvPr id="17" name="protocol 3 circle"/>
          <p:cNvSpPr/>
          <p:nvPr/>
        </p:nvSpPr>
        <p:spPr>
          <a:xfrm>
            <a:off x="4389120" y="3794760"/>
            <a:ext cx="640080" cy="640080"/>
          </a:xfrm>
          <a:prstGeom prst="ellipse">
            <a:avLst/>
          </a:prstGeom>
          <a:solidFill>
            <a:schemeClr val="accent1"/>
          </a:solidFill>
          <a:ln w="12700">
            <a:solidFill>
              <a:schemeClr val="accent1"/>
            </a:solidFill>
            <a:prstDash val="solid"/>
          </a:ln>
        </p:spPr>
      </p:sp>
      <p:pic>
        <p:nvPicPr>
          <p:cNvPr id="18" name="protocol 3 glyph" descr="preencoded.png">    </p:cNvPr>
          <p:cNvPicPr>
            <a:picLocks noChangeAspect="1"/>
          </p:cNvPicPr>
          <p:nvPr/>
        </p:nvPicPr>
        <p:blipFill>
          <a:blip r:embed="rId3"/>
          <a:stretch>
            <a:fillRect/>
          </a:stretch>
        </p:blipFill>
        <p:spPr>
          <a:xfrm>
            <a:off x="4529938" y="3935578"/>
            <a:ext cx="358445" cy="358445"/>
          </a:xfrm>
          <a:prstGeom prst="rect">
            <a:avLst/>
          </a:prstGeom>
        </p:spPr>
      </p:pic>
      <p:sp>
        <p:nvSpPr>
          <p:cNvPr id="19" name="Text 14"/>
          <p:cNvSpPr txBox="1"/>
          <p:nvPr/>
        </p:nvSpPr>
        <p:spPr>
          <a:xfrm>
            <a:off x="5257800" y="3749040"/>
            <a:ext cx="6385255" cy="365760"/>
          </a:xfrm>
          <a:prstGeom prst="rect">
            <a:avLst/>
          </a:prstGeom>
          <a:noFill/>
          <a:ln/>
        </p:spPr>
        <p:txBody>
          <a:bodyPr wrap="square" lIns="0" tIns="0" rIns="0" bIns="0" rtlCol="0" anchor="t"/>
          <a:lstStyle/>
          <a:p>
            <a:pPr indent="0" marL="0">
              <a:buNone/>
            </a:pPr>
            <a:r>
              <a:rPr lang="en-US" sz="1800" b="1" dirty="0">
                <a:solidFill>
                  <a:schemeClr val="tx2"/>
                </a:solidFill>
              </a:rPr>
              <a:t>Statistics</a:t>
            </a:r>
            <a:endParaRPr lang="en-US" sz="1800" dirty="0"/>
          </a:p>
        </p:txBody>
      </p:sp>
      <p:sp>
        <p:nvSpPr>
          <p:cNvPr id="20" name="Text 15"/>
          <p:cNvSpPr txBox="1"/>
          <p:nvPr/>
        </p:nvSpPr>
        <p:spPr>
          <a:xfrm>
            <a:off x="5257800" y="4133088"/>
            <a:ext cx="6385255" cy="685800"/>
          </a:xfrm>
          <a:prstGeom prst="rect">
            <a:avLst/>
          </a:prstGeom>
          <a:noFill/>
          <a:ln/>
        </p:spPr>
        <p:txBody>
          <a:bodyPr wrap="square" lIns="0" tIns="0" rIns="0" bIns="0" rtlCol="0" anchor="t"/>
          <a:lstStyle/>
          <a:p>
            <a:pPr indent="0" marL="0">
              <a:buNone/>
            </a:pPr>
            <a:r>
              <a:rPr lang="en-US" sz="1400" dirty="0">
                <a:solidFill>
                  <a:schemeClr val="tx1"/>
                </a:solidFill>
              </a:rPr>
              <a:t>Paired Wilcoxon tests, Holm correction, rank-biserial effect sizes and bootstrap 95% CIs.</a:t>
            </a:r>
            <a:endParaRPr lang="en-US" sz="1400" dirty="0"/>
          </a:p>
        </p:txBody>
      </p:sp>
      <p:sp>
        <p:nvSpPr>
          <p:cNvPr id="21" name="protocol 4 circle"/>
          <p:cNvSpPr/>
          <p:nvPr/>
        </p:nvSpPr>
        <p:spPr>
          <a:xfrm>
            <a:off x="4389120" y="4983480"/>
            <a:ext cx="640080" cy="640080"/>
          </a:xfrm>
          <a:prstGeom prst="ellipse">
            <a:avLst/>
          </a:prstGeom>
          <a:solidFill>
            <a:schemeClr val="accent1"/>
          </a:solidFill>
          <a:ln w="12700">
            <a:solidFill>
              <a:schemeClr val="accent1"/>
            </a:solidFill>
            <a:prstDash val="solid"/>
          </a:ln>
        </p:spPr>
      </p:sp>
      <p:pic>
        <p:nvPicPr>
          <p:cNvPr id="22" name="protocol 4 glyph" descr="preencoded.png">    </p:cNvPr>
          <p:cNvPicPr>
            <a:picLocks noChangeAspect="1"/>
          </p:cNvPicPr>
          <p:nvPr/>
        </p:nvPicPr>
        <p:blipFill>
          <a:blip r:embed="rId4"/>
          <a:stretch>
            <a:fillRect/>
          </a:stretch>
        </p:blipFill>
        <p:spPr>
          <a:xfrm>
            <a:off x="4529938" y="5124298"/>
            <a:ext cx="358445" cy="358445"/>
          </a:xfrm>
          <a:prstGeom prst="rect">
            <a:avLst/>
          </a:prstGeom>
        </p:spPr>
      </p:pic>
      <p:sp>
        <p:nvSpPr>
          <p:cNvPr id="23" name="Text 17"/>
          <p:cNvSpPr txBox="1"/>
          <p:nvPr/>
        </p:nvSpPr>
        <p:spPr>
          <a:xfrm>
            <a:off x="5257800" y="4937760"/>
            <a:ext cx="6385255" cy="365760"/>
          </a:xfrm>
          <a:prstGeom prst="rect">
            <a:avLst/>
          </a:prstGeom>
          <a:noFill/>
          <a:ln/>
        </p:spPr>
        <p:txBody>
          <a:bodyPr wrap="square" lIns="0" tIns="0" rIns="0" bIns="0" rtlCol="0" anchor="t"/>
          <a:lstStyle/>
          <a:p>
            <a:pPr indent="0" marL="0">
              <a:buNone/>
            </a:pPr>
            <a:r>
              <a:rPr lang="en-US" sz="1800" b="1" dirty="0">
                <a:solidFill>
                  <a:schemeClr val="tx2"/>
                </a:solidFill>
              </a:rPr>
              <a:t>Reference caveat</a:t>
            </a:r>
            <a:endParaRPr lang="en-US" sz="1800" dirty="0"/>
          </a:p>
        </p:txBody>
      </p:sp>
      <p:sp>
        <p:nvSpPr>
          <p:cNvPr id="24" name="Text 18"/>
          <p:cNvSpPr txBox="1"/>
          <p:nvPr/>
        </p:nvSpPr>
        <p:spPr>
          <a:xfrm>
            <a:off x="5257800" y="5321808"/>
            <a:ext cx="6385255" cy="685800"/>
          </a:xfrm>
          <a:prstGeom prst="rect">
            <a:avLst/>
          </a:prstGeom>
          <a:noFill/>
          <a:ln/>
        </p:spPr>
        <p:txBody>
          <a:bodyPr wrap="square" lIns="0" tIns="0" rIns="0" bIns="0" rtlCol="0" anchor="t"/>
          <a:lstStyle/>
          <a:p>
            <a:pPr indent="0" marL="0">
              <a:buNone/>
            </a:pPr>
            <a:r>
              <a:rPr lang="en-US" sz="1400" dirty="0">
                <a:solidFill>
                  <a:schemeClr val="tx1"/>
                </a:solidFill>
              </a:rPr>
              <a:t>UIEB references are the enhancement volunteers preferred among 12 methods, not ground truth.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Results: best SSIM, clearly ahead of HE and UDCP</a:t>
            </a:r>
            <a:endParaRPr lang="en-US" sz="3200" dirty="0"/>
          </a:p>
        </p:txBody>
      </p:sp>
      <p:graphicFrame>
        <p:nvGraphicFramePr>
          <p:cNvPr id="3" name="psnr chart" descr=""/>
          <p:cNvGraphicFramePr/>
          <p:nvPr/>
        </p:nvGraphicFramePr>
        <p:xfrm>
          <a:off x="548640" y="1325880"/>
          <a:ext cx="5364328"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sim chart" descr=""/>
          <p:cNvGraphicFramePr/>
          <p:nvPr/>
        </p:nvGraphicFramePr>
        <p:xfrm>
          <a:off x="6278728" y="1325880"/>
          <a:ext cx="5364328" cy="3840480"/>
        </p:xfrm>
        <a:graphic xmlns:a="http://schemas.openxmlformats.org/drawingml/2006/main">
          <a:graphicData uri="http://schemas.openxmlformats.org/drawingml/2006/chart">
            <c:chart xmlns:c="http://schemas.openxmlformats.org/drawingml/2006/chart" r:id="rId2"/>
          </a:graphicData>
        </a:graphic>
      </p:graphicFrame>
      <p:sp>
        <p:nvSpPr>
          <p:cNvPr id="5" name="results deltas"/>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400" b="1" dirty="0">
                <a:solidFill>
                  <a:schemeClr val="tx1"/>
                </a:solidFill>
              </a:rPr>
              <a:t>vs CLAHE-only: </a:t>
            </a:r>
            <a:pPr indent="0" marL="0">
              <a:buNone/>
            </a:pPr>
            <a:r>
              <a:rPr lang="en-US" sz="1400" dirty="0">
                <a:solidFill>
                  <a:schemeClr val="tx1"/>
                </a:solidFill>
              </a:rPr>
              <a:t>−0.04 dB PSNR (negligible effect), +0.032 SSIM   ·   </a:t>
            </a:r>
            <a:pPr indent="0" marL="0">
              <a:buNone/>
            </a:pPr>
            <a:r>
              <a:rPr lang="en-US" sz="1400" b="1" dirty="0">
                <a:solidFill>
                  <a:schemeClr val="tx1"/>
                </a:solidFill>
              </a:rPr>
              <a:t>vs HE: </a:t>
            </a:r>
            <a:pPr indent="0" marL="0">
              <a:buNone/>
            </a:pPr>
            <a:r>
              <a:rPr lang="en-US" sz="1400" dirty="0">
                <a:solidFill>
                  <a:schemeClr val="tx1"/>
                </a:solidFill>
              </a:rPr>
              <a:t>+1.91 dB, +0.091 SSIM   ·   </a:t>
            </a:r>
            <a:pPr indent="0" marL="0">
              <a:buNone/>
            </a:pPr>
            <a:r>
              <a:rPr lang="en-US" sz="1400" b="1" dirty="0">
                <a:solidFill>
                  <a:schemeClr val="tx1"/>
                </a:solidFill>
              </a:rPr>
              <a:t>vs UDCP: </a:t>
            </a:r>
            <a:pPr indent="0" marL="0">
              <a:buNone/>
            </a:pPr>
            <a:r>
              <a:rPr lang="en-US" sz="1400" dirty="0">
                <a:solidFill>
                  <a:schemeClr val="tx1"/>
                </a:solidFill>
              </a:rPr>
              <a:t>+5.29 dB, +0.216 SSIM</a:t>
            </a:r>
            <a:endParaRPr lang="en-US" sz="1400" dirty="0"/>
          </a:p>
        </p:txBody>
      </p:sp>
      <p:sp>
        <p:nvSpPr>
          <p:cNvPr id="6" name="Text 2"/>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200" i="1" dirty="0">
                <a:solidFill>
                  <a:schemeClr val="accent5"/>
                </a:solidFill>
              </a:rPr>
              <a:t>All differences significant after Holm correction except PSNR vs CLAHE-only. Mean paired differences per image.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each part contributes</a:t>
            </a:r>
            <a:endParaRPr lang="en-US" sz="3200" dirty="0"/>
          </a:p>
        </p:txBody>
      </p:sp>
      <p:graphicFrame>
        <p:nvGraphicFramePr>
          <p:cNvPr id="3" name="contribution chart"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687775" cy="365760"/>
          </a:xfrm>
          <a:prstGeom prst="rect">
            <a:avLst/>
          </a:prstGeom>
          <a:noFill/>
          <a:ln/>
        </p:spPr>
        <p:txBody>
          <a:bodyPr wrap="square" lIns="0" tIns="0" rIns="0" bIns="0" rtlCol="0" anchor="t"/>
          <a:lstStyle/>
          <a:p>
            <a:pPr indent="0" marL="0">
              <a:buNone/>
            </a:pPr>
            <a:r>
              <a:rPr lang="en-US" sz="1800" b="1" dirty="0">
                <a:solidFill>
                  <a:schemeClr val="tx2"/>
                </a:solidFill>
              </a:rPr>
              <a:t>SSIM change</a:t>
            </a:r>
            <a:endParaRPr lang="en-US" sz="1800" dirty="0"/>
          </a:p>
        </p:txBody>
      </p:sp>
      <p:sp>
        <p:nvSpPr>
          <p:cNvPr id="5" name="ssim card 0"/>
          <p:cNvSpPr/>
          <p:nvPr/>
        </p:nvSpPr>
        <p:spPr>
          <a:xfrm>
            <a:off x="7955280" y="1874520"/>
            <a:ext cx="3687775" cy="731520"/>
          </a:xfrm>
          <a:prstGeom prst="roundRect">
            <a:avLst>
              <a:gd name="adj" fmla="val 15000"/>
            </a:avLst>
          </a:prstGeom>
          <a:solidFill>
            <a:schemeClr val="bg2"/>
          </a:solidFill>
          <a:ln w="12700">
            <a:solidFill>
              <a:schemeClr val="bg2"/>
            </a:solidFill>
            <a:prstDash val="solid"/>
          </a:ln>
        </p:spPr>
      </p:sp>
      <p:sp>
        <p:nvSpPr>
          <p:cNvPr id="6" name="Text 3"/>
          <p:cNvSpPr txBox="1"/>
          <p:nvPr/>
        </p:nvSpPr>
        <p:spPr>
          <a:xfrm>
            <a:off x="8138160" y="1874520"/>
            <a:ext cx="1188720" cy="731520"/>
          </a:xfrm>
          <a:prstGeom prst="rect">
            <a:avLst/>
          </a:prstGeom>
          <a:noFill/>
          <a:ln/>
        </p:spPr>
        <p:txBody>
          <a:bodyPr wrap="square" lIns="0" tIns="0" rIns="0" bIns="0" rtlCol="0" anchor="ctr"/>
          <a:lstStyle/>
          <a:p>
            <a:pPr indent="0" marL="0">
              <a:buNone/>
            </a:pPr>
            <a:r>
              <a:rPr lang="en-US" sz="2000" b="1" dirty="0">
                <a:solidFill>
                  <a:schemeClr val="accent1"/>
                </a:solidFill>
              </a:rPr>
              <a:t>+0.024</a:t>
            </a:r>
            <a:endParaRPr lang="en-US" sz="2000" dirty="0"/>
          </a:p>
        </p:txBody>
      </p:sp>
      <p:sp>
        <p:nvSpPr>
          <p:cNvPr id="7" name="Text 4"/>
          <p:cNvSpPr txBox="1"/>
          <p:nvPr/>
        </p:nvSpPr>
        <p:spPr>
          <a:xfrm>
            <a:off x="9326880" y="1874520"/>
            <a:ext cx="2224735" cy="731520"/>
          </a:xfrm>
          <a:prstGeom prst="rect">
            <a:avLst/>
          </a:prstGeom>
          <a:noFill/>
          <a:ln/>
        </p:spPr>
        <p:txBody>
          <a:bodyPr wrap="square" lIns="0" tIns="0" rIns="0" bIns="0" rtlCol="0" anchor="ctr"/>
          <a:lstStyle/>
          <a:p>
            <a:pPr indent="0" marL="0">
              <a:buNone/>
            </a:pPr>
            <a:r>
              <a:rPr lang="en-US" sz="1300" dirty="0">
                <a:solidFill>
                  <a:schemeClr val="tx1"/>
                </a:solidFill>
              </a:rPr>
              <a:t>Red-channel compensation</a:t>
            </a:r>
            <a:endParaRPr lang="en-US" sz="1300" dirty="0"/>
          </a:p>
        </p:txBody>
      </p:sp>
      <p:sp>
        <p:nvSpPr>
          <p:cNvPr id="8" name="ssim card 1"/>
          <p:cNvSpPr/>
          <p:nvPr/>
        </p:nvSpPr>
        <p:spPr>
          <a:xfrm>
            <a:off x="7955280" y="2743200"/>
            <a:ext cx="3687775" cy="731520"/>
          </a:xfrm>
          <a:prstGeom prst="roundRect">
            <a:avLst>
              <a:gd name="adj" fmla="val 15000"/>
            </a:avLst>
          </a:prstGeom>
          <a:solidFill>
            <a:schemeClr val="bg2"/>
          </a:solidFill>
          <a:ln w="12700">
            <a:solidFill>
              <a:schemeClr val="bg2"/>
            </a:solidFill>
            <a:prstDash val="solid"/>
          </a:ln>
        </p:spPr>
      </p:sp>
      <p:sp>
        <p:nvSpPr>
          <p:cNvPr id="9" name="Text 6"/>
          <p:cNvSpPr txBox="1"/>
          <p:nvPr/>
        </p:nvSpPr>
        <p:spPr>
          <a:xfrm>
            <a:off x="8138160" y="2743200"/>
            <a:ext cx="1188720" cy="731520"/>
          </a:xfrm>
          <a:prstGeom prst="rect">
            <a:avLst/>
          </a:prstGeom>
          <a:noFill/>
          <a:ln/>
        </p:spPr>
        <p:txBody>
          <a:bodyPr wrap="square" lIns="0" tIns="0" rIns="0" bIns="0" rtlCol="0" anchor="ctr"/>
          <a:lstStyle/>
          <a:p>
            <a:pPr indent="0" marL="0">
              <a:buNone/>
            </a:pPr>
            <a:r>
              <a:rPr lang="en-US" sz="2000" b="1" dirty="0">
                <a:solidFill>
                  <a:schemeClr val="accent1"/>
                </a:solidFill>
              </a:rPr>
              <a:t>+0.003</a:t>
            </a:r>
            <a:endParaRPr lang="en-US" sz="2000" dirty="0"/>
          </a:p>
        </p:txBody>
      </p:sp>
      <p:sp>
        <p:nvSpPr>
          <p:cNvPr id="10" name="Text 7"/>
          <p:cNvSpPr txBox="1"/>
          <p:nvPr/>
        </p:nvSpPr>
        <p:spPr>
          <a:xfrm>
            <a:off x="9326880" y="2743200"/>
            <a:ext cx="2224735" cy="731520"/>
          </a:xfrm>
          <a:prstGeom prst="rect">
            <a:avLst/>
          </a:prstGeom>
          <a:noFill/>
          <a:ln/>
        </p:spPr>
        <p:txBody>
          <a:bodyPr wrap="square" lIns="0" tIns="0" rIns="0" bIns="0" rtlCol="0" anchor="ctr"/>
          <a:lstStyle/>
          <a:p>
            <a:pPr indent="0" marL="0">
              <a:buNone/>
            </a:pPr>
            <a:r>
              <a:rPr lang="en-US" sz="1300" dirty="0">
                <a:solidFill>
                  <a:schemeClr val="tx1"/>
                </a:solidFill>
              </a:rPr>
              <a:t>Module 7 · predicted α</a:t>
            </a:r>
            <a:endParaRPr lang="en-US" sz="1300" dirty="0"/>
          </a:p>
        </p:txBody>
      </p:sp>
      <p:sp>
        <p:nvSpPr>
          <p:cNvPr id="11" name="ssim card 2"/>
          <p:cNvSpPr/>
          <p:nvPr/>
        </p:nvSpPr>
        <p:spPr>
          <a:xfrm>
            <a:off x="7955280" y="3611880"/>
            <a:ext cx="3687775" cy="731520"/>
          </a:xfrm>
          <a:prstGeom prst="roundRect">
            <a:avLst>
              <a:gd name="adj" fmla="val 15000"/>
            </a:avLst>
          </a:prstGeom>
          <a:solidFill>
            <a:schemeClr val="bg2"/>
          </a:solidFill>
          <a:ln w="12700">
            <a:solidFill>
              <a:schemeClr val="bg2"/>
            </a:solidFill>
            <a:prstDash val="solid"/>
          </a:ln>
        </p:spPr>
      </p:sp>
      <p:sp>
        <p:nvSpPr>
          <p:cNvPr id="12" name="Text 9"/>
          <p:cNvSpPr txBox="1"/>
          <p:nvPr/>
        </p:nvSpPr>
        <p:spPr>
          <a:xfrm>
            <a:off x="8138160" y="3611880"/>
            <a:ext cx="1188720" cy="731520"/>
          </a:xfrm>
          <a:prstGeom prst="rect">
            <a:avLst/>
          </a:prstGeom>
          <a:noFill/>
          <a:ln/>
        </p:spPr>
        <p:txBody>
          <a:bodyPr wrap="square" lIns="0" tIns="0" rIns="0" bIns="0" rtlCol="0" anchor="ctr"/>
          <a:lstStyle/>
          <a:p>
            <a:pPr indent="0" marL="0">
              <a:buNone/>
            </a:pPr>
            <a:r>
              <a:rPr lang="en-US" sz="2000" b="1" dirty="0">
                <a:solidFill>
                  <a:schemeClr val="accent1"/>
                </a:solidFill>
              </a:rPr>
              <a:t>+0.002</a:t>
            </a:r>
            <a:endParaRPr lang="en-US" sz="2000" dirty="0"/>
          </a:p>
        </p:txBody>
      </p:sp>
      <p:sp>
        <p:nvSpPr>
          <p:cNvPr id="13" name="Text 10"/>
          <p:cNvSpPr txBox="1"/>
          <p:nvPr/>
        </p:nvSpPr>
        <p:spPr>
          <a:xfrm>
            <a:off x="9326880" y="3611880"/>
            <a:ext cx="2224735" cy="731520"/>
          </a:xfrm>
          <a:prstGeom prst="rect">
            <a:avLst/>
          </a:prstGeom>
          <a:noFill/>
          <a:ln/>
        </p:spPr>
        <p:txBody>
          <a:bodyPr wrap="square" lIns="0" tIns="0" rIns="0" bIns="0" rtlCol="0" anchor="ctr"/>
          <a:lstStyle/>
          <a:p>
            <a:pPr indent="0" marL="0">
              <a:buNone/>
            </a:pPr>
            <a:r>
              <a:rPr lang="en-US" sz="1300" dirty="0">
                <a:solidFill>
                  <a:schemeClr val="tx1"/>
                </a:solidFill>
              </a:rPr>
              <a:t>Module 5 · per-type routing</a:t>
            </a:r>
            <a:endParaRPr lang="en-US" sz="1300" dirty="0"/>
          </a:p>
        </p:txBody>
      </p:sp>
      <p:sp>
        <p:nvSpPr>
          <p:cNvPr id="14" name="ssim card 3"/>
          <p:cNvSpPr/>
          <p:nvPr/>
        </p:nvSpPr>
        <p:spPr>
          <a:xfrm>
            <a:off x="7955280" y="4480560"/>
            <a:ext cx="3687775" cy="731520"/>
          </a:xfrm>
          <a:prstGeom prst="roundRect">
            <a:avLst>
              <a:gd name="adj" fmla="val 15000"/>
            </a:avLst>
          </a:prstGeom>
          <a:solidFill>
            <a:schemeClr val="bg2"/>
          </a:solidFill>
          <a:ln w="12700">
            <a:solidFill>
              <a:schemeClr val="bg2"/>
            </a:solidFill>
            <a:prstDash val="solid"/>
          </a:ln>
        </p:spPr>
      </p:sp>
      <p:sp>
        <p:nvSpPr>
          <p:cNvPr id="15" name="Text 12"/>
          <p:cNvSpPr txBox="1"/>
          <p:nvPr/>
        </p:nvSpPr>
        <p:spPr>
          <a:xfrm>
            <a:off x="8138160" y="4480560"/>
            <a:ext cx="1188720" cy="731520"/>
          </a:xfrm>
          <a:prstGeom prst="rect">
            <a:avLst/>
          </a:prstGeom>
          <a:noFill/>
          <a:ln/>
        </p:spPr>
        <p:txBody>
          <a:bodyPr wrap="square" lIns="0" tIns="0" rIns="0" bIns="0" rtlCol="0" anchor="ctr"/>
          <a:lstStyle/>
          <a:p>
            <a:pPr indent="0" marL="0">
              <a:buNone/>
            </a:pPr>
            <a:r>
              <a:rPr lang="en-US" sz="2000" b="1" dirty="0">
                <a:solidFill>
                  <a:schemeClr val="accent2"/>
                </a:solidFill>
              </a:rPr>
              <a:t>−0.024</a:t>
            </a:r>
            <a:endParaRPr lang="en-US" sz="2000" dirty="0"/>
          </a:p>
        </p:txBody>
      </p:sp>
      <p:sp>
        <p:nvSpPr>
          <p:cNvPr id="16" name="Text 13"/>
          <p:cNvSpPr txBox="1"/>
          <p:nvPr/>
        </p:nvSpPr>
        <p:spPr>
          <a:xfrm>
            <a:off x="9326880" y="4480560"/>
            <a:ext cx="2224735" cy="731520"/>
          </a:xfrm>
          <a:prstGeom prst="rect">
            <a:avLst/>
          </a:prstGeom>
          <a:noFill/>
          <a:ln/>
        </p:spPr>
        <p:txBody>
          <a:bodyPr wrap="square" lIns="0" tIns="0" rIns="0" bIns="0" rtlCol="0" anchor="ctr"/>
          <a:lstStyle/>
          <a:p>
            <a:pPr indent="0" marL="0">
              <a:buNone/>
            </a:pPr>
            <a:r>
              <a:rPr lang="en-US" sz="1300" dirty="0">
                <a:solidFill>
                  <a:schemeClr val="tx1"/>
                </a:solidFill>
              </a:rPr>
              <a:t>Original Module 7 search</a:t>
            </a:r>
            <a:endParaRPr lang="en-US" sz="1300" dirty="0"/>
          </a:p>
        </p:txBody>
      </p:sp>
      <p:sp>
        <p:nvSpPr>
          <p:cNvPr id="17" name="Text 14"/>
          <p:cNvSpPr txBox="1"/>
          <p:nvPr/>
        </p:nvSpPr>
        <p:spPr>
          <a:xfrm>
            <a:off x="7955280" y="5440680"/>
            <a:ext cx="3687775" cy="731520"/>
          </a:xfrm>
          <a:prstGeom prst="rect">
            <a:avLst/>
          </a:prstGeom>
          <a:noFill/>
          <a:ln/>
        </p:spPr>
        <p:txBody>
          <a:bodyPr wrap="square" lIns="0" tIns="0" rIns="0" bIns="0" rtlCol="0" anchor="t"/>
          <a:lstStyle/>
          <a:p>
            <a:pPr indent="0" marL="0">
              <a:buNone/>
            </a:pPr>
            <a:r>
              <a:rPr lang="en-US" sz="1200" i="1" dirty="0">
                <a:solidFill>
                  <a:schemeClr val="accent5"/>
                </a:solidFill>
              </a:rPr>
              <a:t>Red compensation measured on the no-module baseline; modules vs. the equally tuned control; the original search vs. the predictor.</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Finding: no-reference scores mislead the optimiser</a:t>
            </a:r>
            <a:endParaRPr lang="en-US" sz="3200" dirty="0"/>
          </a:p>
        </p:txBody>
      </p:sp>
      <p:graphicFrame>
        <p:nvGraphicFramePr>
          <p:cNvPr id="3" name="selector chart"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280160"/>
            <a:ext cx="3870655" cy="914400"/>
          </a:xfrm>
          <a:prstGeom prst="rect">
            <a:avLst/>
          </a:prstGeom>
          <a:noFill/>
          <a:ln/>
        </p:spPr>
        <p:txBody>
          <a:bodyPr wrap="square" lIns="0" tIns="0" rIns="0" bIns="0" rtlCol="0" anchor="t"/>
          <a:lstStyle/>
          <a:p>
            <a:pPr indent="0" marL="0">
              <a:buNone/>
            </a:pPr>
            <a:r>
              <a:rPr lang="en-US" sz="6000" b="1" dirty="0">
                <a:solidFill>
                  <a:schemeClr val="accent2"/>
                </a:solidFill>
              </a:rPr>
              <a:t>87%</a:t>
            </a:r>
            <a:endParaRPr lang="en-US" sz="6000" dirty="0"/>
          </a:p>
        </p:txBody>
      </p:sp>
      <p:sp>
        <p:nvSpPr>
          <p:cNvPr id="5" name="Text 2"/>
          <p:cNvSpPr txBox="1"/>
          <p:nvPr/>
        </p:nvSpPr>
        <p:spPr>
          <a:xfrm>
            <a:off x="7772400" y="2240280"/>
            <a:ext cx="3870655" cy="822960"/>
          </a:xfrm>
          <a:prstGeom prst="rect">
            <a:avLst/>
          </a:prstGeom>
          <a:noFill/>
          <a:ln/>
        </p:spPr>
        <p:txBody>
          <a:bodyPr wrap="square" lIns="0" tIns="0" rIns="0" bIns="0" rtlCol="0" anchor="t"/>
          <a:lstStyle/>
          <a:p>
            <a:pPr indent="0" marL="0">
              <a:buNone/>
            </a:pPr>
            <a:r>
              <a:rPr lang="en-US" sz="1400" dirty="0">
                <a:solidFill>
                  <a:schemeClr val="tx1"/>
                </a:solidFill>
              </a:rPr>
              <a:t>of images pushed to α = 0 or 1 by maximising UCIQE+UIQM: the scores reward extreme blends</a:t>
            </a:r>
            <a:endParaRPr lang="en-US" sz="1400" dirty="0"/>
          </a:p>
        </p:txBody>
      </p:sp>
      <p:sp>
        <p:nvSpPr>
          <p:cNvPr id="6" name="Text 3"/>
          <p:cNvSpPr txBox="1"/>
          <p:nvPr/>
        </p:nvSpPr>
        <p:spPr>
          <a:xfrm>
            <a:off x="7772400" y="3246120"/>
            <a:ext cx="3870655" cy="914400"/>
          </a:xfrm>
          <a:prstGeom prst="rect">
            <a:avLst/>
          </a:prstGeom>
          <a:noFill/>
          <a:ln/>
        </p:spPr>
        <p:txBody>
          <a:bodyPr wrap="square" lIns="0" tIns="0" rIns="0" bIns="0" rtlCol="0" anchor="t"/>
          <a:lstStyle/>
          <a:p>
            <a:pPr indent="0" marL="0">
              <a:buNone/>
            </a:pPr>
            <a:r>
              <a:rPr lang="en-US" sz="4800" b="1" dirty="0">
                <a:solidFill>
                  <a:schemeClr val="accent2"/>
                </a:solidFill>
              </a:rPr>
              <a:t>−0.77 dB</a:t>
            </a:r>
            <a:endParaRPr lang="en-US" sz="4800" dirty="0"/>
          </a:p>
        </p:txBody>
      </p:sp>
      <p:sp>
        <p:nvSpPr>
          <p:cNvPr id="7" name="Text 4"/>
          <p:cNvSpPr txBox="1"/>
          <p:nvPr/>
        </p:nvSpPr>
        <p:spPr>
          <a:xfrm>
            <a:off x="7772400" y="4114800"/>
            <a:ext cx="3870655" cy="548640"/>
          </a:xfrm>
          <a:prstGeom prst="rect">
            <a:avLst/>
          </a:prstGeom>
          <a:noFill/>
          <a:ln/>
        </p:spPr>
        <p:txBody>
          <a:bodyPr wrap="square" lIns="0" tIns="0" rIns="0" bIns="0" rtlCol="0" anchor="t"/>
          <a:lstStyle/>
          <a:p>
            <a:pPr indent="0" marL="0">
              <a:buNone/>
            </a:pPr>
            <a:r>
              <a:rPr lang="en-US" sz="1400" dirty="0">
                <a:solidFill>
                  <a:schemeClr val="tx1"/>
                </a:solidFill>
              </a:rPr>
              <a:t>held-out PSNR of that search vs. our predictor (large effect)</a:t>
            </a:r>
            <a:endParaRPr lang="en-US" sz="1400" dirty="0"/>
          </a:p>
        </p:txBody>
      </p:sp>
      <p:sp>
        <p:nvSpPr>
          <p:cNvPr id="8" name="Text 5"/>
          <p:cNvSpPr txBox="1"/>
          <p:nvPr/>
        </p:nvSpPr>
        <p:spPr>
          <a:xfrm>
            <a:off x="7772400" y="4800600"/>
            <a:ext cx="3870655" cy="1371600"/>
          </a:xfrm>
          <a:prstGeom prst="rect">
            <a:avLst/>
          </a:prstGeom>
          <a:noFill/>
          <a:ln/>
        </p:spPr>
        <p:txBody>
          <a:bodyPr wrap="square" lIns="0" tIns="0" rIns="0" bIns="0" rtlCol="0" anchor="t"/>
          <a:lstStyle/>
          <a:p>
            <a:pPr indent="0" marL="0">
              <a:buNone/>
            </a:pPr>
            <a:r>
              <a:rPr lang="en-US" sz="1300" i="1" dirty="0">
                <a:solidFill>
                  <a:schemeClr val="accent5"/>
                </a:solidFill>
              </a:rPr>
              <a:t>Every score-maximising choice is worse than a fixed α. HE also tops UCIQE while losing on PSNR/SSIM. Lesson: check a quality score against references before optimising it.</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Visual comparison on held-out images</a:t>
            </a:r>
            <a:endParaRPr lang="en-US" sz="3200" dirty="0"/>
          </a:p>
        </p:txBody>
      </p:sp>
      <p:sp>
        <p:nvSpPr>
          <p:cNvPr id="3" name="Text 1"/>
          <p:cNvSpPr txBox="1"/>
          <p:nvPr/>
        </p:nvSpPr>
        <p:spPr>
          <a:xfrm>
            <a:off x="548640" y="1280160"/>
            <a:ext cx="2072579" cy="320040"/>
          </a:xfrm>
          <a:prstGeom prst="rect">
            <a:avLst/>
          </a:prstGeom>
          <a:noFill/>
          <a:ln/>
        </p:spPr>
        <p:txBody>
          <a:bodyPr wrap="square" lIns="0" tIns="0" rIns="0" bIns="0" rtlCol="0" anchor="t"/>
          <a:lstStyle/>
          <a:p>
            <a:pPr algn="ctr" indent="0" marL="0">
              <a:buNone/>
            </a:pPr>
            <a:r>
              <a:rPr lang="en-US" sz="1300" b="1" dirty="0">
                <a:solidFill>
                  <a:schemeClr val="tx2"/>
                </a:solidFill>
              </a:rPr>
              <a:t>Raw</a:t>
            </a:r>
            <a:endParaRPr lang="en-US" sz="1300" dirty="0"/>
          </a:p>
        </p:txBody>
      </p:sp>
      <p:sp>
        <p:nvSpPr>
          <p:cNvPr id="4" name="Text 2"/>
          <p:cNvSpPr txBox="1"/>
          <p:nvPr/>
        </p:nvSpPr>
        <p:spPr>
          <a:xfrm>
            <a:off x="2804099" y="1280160"/>
            <a:ext cx="2072579" cy="320040"/>
          </a:xfrm>
          <a:prstGeom prst="rect">
            <a:avLst/>
          </a:prstGeom>
          <a:noFill/>
          <a:ln/>
        </p:spPr>
        <p:txBody>
          <a:bodyPr wrap="square" lIns="0" tIns="0" rIns="0" bIns="0" rtlCol="0" anchor="t"/>
          <a:lstStyle/>
          <a:p>
            <a:pPr algn="ctr" indent="0" marL="0">
              <a:buNone/>
            </a:pPr>
            <a:r>
              <a:rPr lang="en-US" sz="1300" b="1" dirty="0">
                <a:solidFill>
                  <a:schemeClr val="tx2"/>
                </a:solidFill>
              </a:rPr>
              <a:t>Conventional HE</a:t>
            </a:r>
            <a:endParaRPr lang="en-US" sz="1300" dirty="0"/>
          </a:p>
        </p:txBody>
      </p:sp>
      <p:sp>
        <p:nvSpPr>
          <p:cNvPr id="5" name="Text 3"/>
          <p:cNvSpPr txBox="1"/>
          <p:nvPr/>
        </p:nvSpPr>
        <p:spPr>
          <a:xfrm>
            <a:off x="5059558" y="1280160"/>
            <a:ext cx="2072579" cy="320040"/>
          </a:xfrm>
          <a:prstGeom prst="rect">
            <a:avLst/>
          </a:prstGeom>
          <a:noFill/>
          <a:ln/>
        </p:spPr>
        <p:txBody>
          <a:bodyPr wrap="square" lIns="0" tIns="0" rIns="0" bIns="0" rtlCol="0" anchor="t"/>
          <a:lstStyle/>
          <a:p>
            <a:pPr algn="ctr" indent="0" marL="0">
              <a:buNone/>
            </a:pPr>
            <a:r>
              <a:rPr lang="en-US" sz="1300" b="1" dirty="0">
                <a:solidFill>
                  <a:schemeClr val="tx2"/>
                </a:solidFill>
              </a:rPr>
              <a:t>CLAHE-only</a:t>
            </a:r>
            <a:endParaRPr lang="en-US" sz="1300" dirty="0"/>
          </a:p>
        </p:txBody>
      </p:sp>
      <p:sp>
        <p:nvSpPr>
          <p:cNvPr id="6" name="Text 4"/>
          <p:cNvSpPr txBox="1"/>
          <p:nvPr/>
        </p:nvSpPr>
        <p:spPr>
          <a:xfrm>
            <a:off x="7315017" y="1280160"/>
            <a:ext cx="2072579" cy="320040"/>
          </a:xfrm>
          <a:prstGeom prst="rect">
            <a:avLst/>
          </a:prstGeom>
          <a:noFill/>
          <a:ln/>
        </p:spPr>
        <p:txBody>
          <a:bodyPr wrap="square" lIns="0" tIns="0" rIns="0" bIns="0" rtlCol="0" anchor="t"/>
          <a:lstStyle/>
          <a:p>
            <a:pPr algn="ctr" indent="0" marL="0">
              <a:buNone/>
            </a:pPr>
            <a:r>
              <a:rPr lang="en-US" sz="1300" b="1" dirty="0">
                <a:solidFill>
                  <a:schemeClr val="accent1"/>
                </a:solidFill>
              </a:rPr>
              <a:t>Proposed hybrid</a:t>
            </a:r>
            <a:endParaRPr lang="en-US" sz="1300" dirty="0"/>
          </a:p>
        </p:txBody>
      </p:sp>
      <p:sp>
        <p:nvSpPr>
          <p:cNvPr id="7" name="Text 5"/>
          <p:cNvSpPr txBox="1"/>
          <p:nvPr/>
        </p:nvSpPr>
        <p:spPr>
          <a:xfrm>
            <a:off x="9570476" y="1280160"/>
            <a:ext cx="2072579" cy="320040"/>
          </a:xfrm>
          <a:prstGeom prst="rect">
            <a:avLst/>
          </a:prstGeom>
          <a:noFill/>
          <a:ln/>
        </p:spPr>
        <p:txBody>
          <a:bodyPr wrap="square" lIns="0" tIns="0" rIns="0" bIns="0" rtlCol="0" anchor="t"/>
          <a:lstStyle/>
          <a:p>
            <a:pPr algn="ctr" indent="0" marL="0">
              <a:buNone/>
            </a:pPr>
            <a:r>
              <a:rPr lang="en-US" sz="1300" b="1" dirty="0">
                <a:solidFill>
                  <a:schemeClr val="tx2"/>
                </a:solidFill>
              </a:rPr>
              <a:t>UIEB reference</a:t>
            </a:r>
            <a:endParaRPr lang="en-US" sz="1300" dirty="0"/>
          </a:p>
        </p:txBody>
      </p:sp>
      <p:pic>
        <p:nvPicPr>
          <p:cNvPr id="8" name="773_img_ raw" descr="scripts/presentation/build/img/773_img__raw.jpg">    </p:cNvPr>
          <p:cNvPicPr>
            <a:picLocks noChangeAspect="1"/>
          </p:cNvPicPr>
          <p:nvPr/>
        </p:nvPicPr>
        <p:blipFill>
          <a:blip r:embed="rId1"/>
          <a:stretch>
            <a:fillRect/>
          </a:stretch>
        </p:blipFill>
        <p:spPr>
          <a:xfrm>
            <a:off x="548640" y="1691640"/>
            <a:ext cx="2072579" cy="1450805"/>
          </a:xfrm>
          <a:prstGeom prst="rect">
            <a:avLst/>
          </a:prstGeom>
        </p:spPr>
      </p:pic>
      <p:pic>
        <p:nvPicPr>
          <p:cNvPr id="9" name="773_img_ conventional_he" descr="scripts/presentation/build/img/773_img__conventional_he.jpg">    </p:cNvPr>
          <p:cNvPicPr>
            <a:picLocks noChangeAspect="1"/>
          </p:cNvPicPr>
          <p:nvPr/>
        </p:nvPicPr>
        <p:blipFill>
          <a:blip r:embed="rId2"/>
          <a:stretch>
            <a:fillRect/>
          </a:stretch>
        </p:blipFill>
        <p:spPr>
          <a:xfrm>
            <a:off x="2804099" y="1691640"/>
            <a:ext cx="2072579" cy="1450805"/>
          </a:xfrm>
          <a:prstGeom prst="rect">
            <a:avLst/>
          </a:prstGeom>
        </p:spPr>
      </p:pic>
      <p:pic>
        <p:nvPicPr>
          <p:cNvPr id="10" name="773_img_ clahe_only" descr="scripts/presentation/build/img/773_img__clahe_only.jpg">    </p:cNvPr>
          <p:cNvPicPr>
            <a:picLocks noChangeAspect="1"/>
          </p:cNvPicPr>
          <p:nvPr/>
        </p:nvPicPr>
        <p:blipFill>
          <a:blip r:embed="rId3"/>
          <a:stretch>
            <a:fillRect/>
          </a:stretch>
        </p:blipFill>
        <p:spPr>
          <a:xfrm>
            <a:off x="5059558" y="1691640"/>
            <a:ext cx="2072579" cy="1450805"/>
          </a:xfrm>
          <a:prstGeom prst="rect">
            <a:avLst/>
          </a:prstGeom>
        </p:spPr>
      </p:pic>
      <p:sp>
        <p:nvSpPr>
          <p:cNvPr id="11" name="hybrid frame 773_img_"/>
          <p:cNvSpPr/>
          <p:nvPr/>
        </p:nvSpPr>
        <p:spPr>
          <a:xfrm>
            <a:off x="7278441" y="1655064"/>
            <a:ext cx="2145731" cy="1523957"/>
          </a:xfrm>
          <a:prstGeom prst="rect">
            <a:avLst/>
          </a:prstGeom>
          <a:solidFill>
            <a:schemeClr val="accent1"/>
          </a:solidFill>
          <a:ln w="12700">
            <a:solidFill>
              <a:schemeClr val="accent1"/>
            </a:solidFill>
            <a:prstDash val="solid"/>
          </a:ln>
        </p:spPr>
      </p:sp>
      <p:pic>
        <p:nvPicPr>
          <p:cNvPr id="12" name="773_img_ proposed_hybrid" descr="scripts/presentation/build/img/773_img__proposed_hybrid.jpg">    </p:cNvPr>
          <p:cNvPicPr>
            <a:picLocks noChangeAspect="1"/>
          </p:cNvPicPr>
          <p:nvPr/>
        </p:nvPicPr>
        <p:blipFill>
          <a:blip r:embed="rId4"/>
          <a:stretch>
            <a:fillRect/>
          </a:stretch>
        </p:blipFill>
        <p:spPr>
          <a:xfrm>
            <a:off x="7315017" y="1691640"/>
            <a:ext cx="2072579" cy="1450805"/>
          </a:xfrm>
          <a:prstGeom prst="rect">
            <a:avLst/>
          </a:prstGeom>
        </p:spPr>
      </p:pic>
      <p:pic>
        <p:nvPicPr>
          <p:cNvPr id="13" name="773_img_ reference" descr="scripts/presentation/build/img/773_img__reference.jpg">    </p:cNvPr>
          <p:cNvPicPr>
            <a:picLocks noChangeAspect="1"/>
          </p:cNvPicPr>
          <p:nvPr/>
        </p:nvPicPr>
        <p:blipFill>
          <a:blip r:embed="rId5"/>
          <a:stretch>
            <a:fillRect/>
          </a:stretch>
        </p:blipFill>
        <p:spPr>
          <a:xfrm>
            <a:off x="9570476" y="1691640"/>
            <a:ext cx="2072579" cy="1450805"/>
          </a:xfrm>
          <a:prstGeom prst="rect">
            <a:avLst/>
          </a:prstGeom>
        </p:spPr>
      </p:pic>
      <p:sp>
        <p:nvSpPr>
          <p:cNvPr id="14" name="773_img_ scores"/>
          <p:cNvSpPr txBox="1"/>
          <p:nvPr/>
        </p:nvSpPr>
        <p:spPr>
          <a:xfrm>
            <a:off x="548640" y="3233885"/>
            <a:ext cx="11094415" cy="292608"/>
          </a:xfrm>
          <a:prstGeom prst="rect">
            <a:avLst/>
          </a:prstGeom>
          <a:noFill/>
          <a:ln/>
        </p:spPr>
        <p:txBody>
          <a:bodyPr wrap="square" lIns="0" tIns="0" rIns="0" bIns="0" rtlCol="0" anchor="t"/>
          <a:lstStyle/>
          <a:p>
            <a:pPr indent="0" marL="0">
              <a:buNone/>
            </a:pPr>
            <a:r>
              <a:rPr lang="en-US" sz="1200" dirty="0">
                <a:solidFill>
                  <a:schemeClr val="accent5"/>
                </a:solidFill>
              </a:rPr>
              <a:t>green turbid · PSNR / SSIM — proposed 21.59 / 0.932, CLAHE-only 20.91 / 0.921, HE 18.82 / 0.884</a:t>
            </a:r>
            <a:endParaRPr lang="en-US" sz="1200" dirty="0"/>
          </a:p>
        </p:txBody>
      </p:sp>
      <p:pic>
        <p:nvPicPr>
          <p:cNvPr id="15" name="213_img_ raw" descr="scripts/presentation/build/img/213_img__raw.jpg">    </p:cNvPr>
          <p:cNvPicPr>
            <a:picLocks noChangeAspect="1"/>
          </p:cNvPicPr>
          <p:nvPr/>
        </p:nvPicPr>
        <p:blipFill>
          <a:blip r:embed="rId6"/>
          <a:stretch>
            <a:fillRect/>
          </a:stretch>
        </p:blipFill>
        <p:spPr>
          <a:xfrm>
            <a:off x="548640" y="3691085"/>
            <a:ext cx="2072579" cy="1554434"/>
          </a:xfrm>
          <a:prstGeom prst="rect">
            <a:avLst/>
          </a:prstGeom>
        </p:spPr>
      </p:pic>
      <p:pic>
        <p:nvPicPr>
          <p:cNvPr id="16" name="213_img_ conventional_he" descr="scripts/presentation/build/img/213_img__conventional_he.jpg">    </p:cNvPr>
          <p:cNvPicPr>
            <a:picLocks noChangeAspect="1"/>
          </p:cNvPicPr>
          <p:nvPr/>
        </p:nvPicPr>
        <p:blipFill>
          <a:blip r:embed="rId7"/>
          <a:stretch>
            <a:fillRect/>
          </a:stretch>
        </p:blipFill>
        <p:spPr>
          <a:xfrm>
            <a:off x="2804099" y="3691085"/>
            <a:ext cx="2072579" cy="1554434"/>
          </a:xfrm>
          <a:prstGeom prst="rect">
            <a:avLst/>
          </a:prstGeom>
        </p:spPr>
      </p:pic>
      <p:pic>
        <p:nvPicPr>
          <p:cNvPr id="17" name="213_img_ clahe_only" descr="scripts/presentation/build/img/213_img__clahe_only.jpg">    </p:cNvPr>
          <p:cNvPicPr>
            <a:picLocks noChangeAspect="1"/>
          </p:cNvPicPr>
          <p:nvPr/>
        </p:nvPicPr>
        <p:blipFill>
          <a:blip r:embed="rId8"/>
          <a:stretch>
            <a:fillRect/>
          </a:stretch>
        </p:blipFill>
        <p:spPr>
          <a:xfrm>
            <a:off x="5059558" y="3691085"/>
            <a:ext cx="2072579" cy="1554434"/>
          </a:xfrm>
          <a:prstGeom prst="rect">
            <a:avLst/>
          </a:prstGeom>
        </p:spPr>
      </p:pic>
      <p:sp>
        <p:nvSpPr>
          <p:cNvPr id="18" name="hybrid frame 213_img_"/>
          <p:cNvSpPr/>
          <p:nvPr/>
        </p:nvSpPr>
        <p:spPr>
          <a:xfrm>
            <a:off x="7278441" y="3654509"/>
            <a:ext cx="2145731" cy="1627586"/>
          </a:xfrm>
          <a:prstGeom prst="rect">
            <a:avLst/>
          </a:prstGeom>
          <a:solidFill>
            <a:schemeClr val="accent1"/>
          </a:solidFill>
          <a:ln w="12700">
            <a:solidFill>
              <a:schemeClr val="accent1"/>
            </a:solidFill>
            <a:prstDash val="solid"/>
          </a:ln>
        </p:spPr>
      </p:sp>
      <p:pic>
        <p:nvPicPr>
          <p:cNvPr id="19" name="213_img_ proposed_hybrid" descr="scripts/presentation/build/img/213_img__proposed_hybrid.jpg">    </p:cNvPr>
          <p:cNvPicPr>
            <a:picLocks noChangeAspect="1"/>
          </p:cNvPicPr>
          <p:nvPr/>
        </p:nvPicPr>
        <p:blipFill>
          <a:blip r:embed="rId9"/>
          <a:stretch>
            <a:fillRect/>
          </a:stretch>
        </p:blipFill>
        <p:spPr>
          <a:xfrm>
            <a:off x="7315017" y="3691085"/>
            <a:ext cx="2072579" cy="1554434"/>
          </a:xfrm>
          <a:prstGeom prst="rect">
            <a:avLst/>
          </a:prstGeom>
        </p:spPr>
      </p:pic>
      <p:pic>
        <p:nvPicPr>
          <p:cNvPr id="20" name="213_img_ reference" descr="scripts/presentation/build/img/213_img__reference.jpg">    </p:cNvPr>
          <p:cNvPicPr>
            <a:picLocks noChangeAspect="1"/>
          </p:cNvPicPr>
          <p:nvPr/>
        </p:nvPicPr>
        <p:blipFill>
          <a:blip r:embed="rId10"/>
          <a:stretch>
            <a:fillRect/>
          </a:stretch>
        </p:blipFill>
        <p:spPr>
          <a:xfrm>
            <a:off x="9570476" y="3691085"/>
            <a:ext cx="2072579" cy="1554434"/>
          </a:xfrm>
          <a:prstGeom prst="rect">
            <a:avLst/>
          </a:prstGeom>
        </p:spPr>
      </p:pic>
      <p:sp>
        <p:nvSpPr>
          <p:cNvPr id="21" name="213_img_ scores"/>
          <p:cNvSpPr txBox="1"/>
          <p:nvPr/>
        </p:nvSpPr>
        <p:spPr>
          <a:xfrm>
            <a:off x="548640" y="5336960"/>
            <a:ext cx="11094415" cy="292608"/>
          </a:xfrm>
          <a:prstGeom prst="rect">
            <a:avLst/>
          </a:prstGeom>
          <a:noFill/>
          <a:ln/>
        </p:spPr>
        <p:txBody>
          <a:bodyPr wrap="square" lIns="0" tIns="0" rIns="0" bIns="0" rtlCol="0" anchor="t"/>
          <a:lstStyle/>
          <a:p>
            <a:pPr indent="0" marL="0">
              <a:buNone/>
            </a:pPr>
            <a:r>
              <a:rPr lang="en-US" sz="1200" dirty="0">
                <a:solidFill>
                  <a:schemeClr val="accent5"/>
                </a:solidFill>
              </a:rPr>
              <a:t>hazy bright · PSNR / SSIM — proposed 15.52 / 0.797, CLAHE-only 15.52 / 0.771, HE 14.29 / 0.746</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Where it still falls short</a:t>
            </a:r>
            <a:endParaRPr lang="en-US" sz="3200" dirty="0"/>
          </a:p>
        </p:txBody>
      </p:sp>
      <p:pic>
        <p:nvPicPr>
          <p:cNvPr id="3" name="weak raw" descr="scripts/presentation/build/img/699_img__raw.jpg">    </p:cNvPr>
          <p:cNvPicPr>
            <a:picLocks noChangeAspect="1"/>
          </p:cNvPicPr>
          <p:nvPr/>
        </p:nvPicPr>
        <p:blipFill>
          <a:blip r:embed="rId1"/>
          <a:stretch>
            <a:fillRect/>
          </a:stretch>
        </p:blipFill>
        <p:spPr>
          <a:xfrm>
            <a:off x="548640" y="1325880"/>
            <a:ext cx="2602154" cy="1821508"/>
          </a:xfrm>
          <a:prstGeom prst="rect">
            <a:avLst/>
          </a:prstGeom>
        </p:spPr>
      </p:pic>
      <p:sp>
        <p:nvSpPr>
          <p:cNvPr id="4" name="Text 1"/>
          <p:cNvSpPr txBox="1"/>
          <p:nvPr/>
        </p:nvSpPr>
        <p:spPr>
          <a:xfrm>
            <a:off x="548640" y="3220540"/>
            <a:ext cx="2602154" cy="292608"/>
          </a:xfrm>
          <a:prstGeom prst="rect">
            <a:avLst/>
          </a:prstGeom>
          <a:noFill/>
          <a:ln/>
        </p:spPr>
        <p:txBody>
          <a:bodyPr wrap="square" lIns="0" tIns="0" rIns="0" bIns="0" rtlCol="0" anchor="t"/>
          <a:lstStyle/>
          <a:p>
            <a:pPr indent="0" marL="0">
              <a:buNone/>
            </a:pPr>
            <a:r>
              <a:rPr lang="en-US" sz="1200" b="1" dirty="0">
                <a:solidFill>
                  <a:schemeClr val="tx2"/>
                </a:solidFill>
              </a:rPr>
              <a:t>Raw</a:t>
            </a:r>
            <a:endParaRPr lang="en-US" sz="1200" dirty="0"/>
          </a:p>
        </p:txBody>
      </p:sp>
      <p:pic>
        <p:nvPicPr>
          <p:cNvPr id="5" name="weak clahe_only" descr="scripts/presentation/build/img/699_img__clahe_only.jpg">    </p:cNvPr>
          <p:cNvPicPr>
            <a:picLocks noChangeAspect="1"/>
          </p:cNvPicPr>
          <p:nvPr/>
        </p:nvPicPr>
        <p:blipFill>
          <a:blip r:embed="rId2"/>
          <a:stretch>
            <a:fillRect/>
          </a:stretch>
        </p:blipFill>
        <p:spPr>
          <a:xfrm>
            <a:off x="3379394" y="1325880"/>
            <a:ext cx="2602154" cy="1821508"/>
          </a:xfrm>
          <a:prstGeom prst="rect">
            <a:avLst/>
          </a:prstGeom>
        </p:spPr>
      </p:pic>
      <p:sp>
        <p:nvSpPr>
          <p:cNvPr id="6" name="Text 2"/>
          <p:cNvSpPr txBox="1"/>
          <p:nvPr/>
        </p:nvSpPr>
        <p:spPr>
          <a:xfrm>
            <a:off x="3379394" y="3220540"/>
            <a:ext cx="2602154" cy="292608"/>
          </a:xfrm>
          <a:prstGeom prst="rect">
            <a:avLst/>
          </a:prstGeom>
          <a:noFill/>
          <a:ln/>
        </p:spPr>
        <p:txBody>
          <a:bodyPr wrap="square" lIns="0" tIns="0" rIns="0" bIns="0" rtlCol="0" anchor="t"/>
          <a:lstStyle/>
          <a:p>
            <a:pPr indent="0" marL="0">
              <a:buNone/>
            </a:pPr>
            <a:r>
              <a:rPr lang="en-US" sz="1200" b="1" dirty="0">
                <a:solidFill>
                  <a:schemeClr val="tx2"/>
                </a:solidFill>
              </a:rPr>
              <a:t>CLAHE-only</a:t>
            </a:r>
            <a:endParaRPr lang="en-US" sz="1200" dirty="0"/>
          </a:p>
        </p:txBody>
      </p:sp>
      <p:pic>
        <p:nvPicPr>
          <p:cNvPr id="7" name="weak proposed_hybrid" descr="scripts/presentation/build/img/699_img__proposed_hybrid.jpg">    </p:cNvPr>
          <p:cNvPicPr>
            <a:picLocks noChangeAspect="1"/>
          </p:cNvPicPr>
          <p:nvPr/>
        </p:nvPicPr>
        <p:blipFill>
          <a:blip r:embed="rId3"/>
          <a:stretch>
            <a:fillRect/>
          </a:stretch>
        </p:blipFill>
        <p:spPr>
          <a:xfrm>
            <a:off x="6210148" y="1325880"/>
            <a:ext cx="2602154" cy="1821508"/>
          </a:xfrm>
          <a:prstGeom prst="rect">
            <a:avLst/>
          </a:prstGeom>
        </p:spPr>
      </p:pic>
      <p:sp>
        <p:nvSpPr>
          <p:cNvPr id="8" name="Text 3"/>
          <p:cNvSpPr txBox="1"/>
          <p:nvPr/>
        </p:nvSpPr>
        <p:spPr>
          <a:xfrm>
            <a:off x="6210148" y="3220540"/>
            <a:ext cx="2602154" cy="292608"/>
          </a:xfrm>
          <a:prstGeom prst="rect">
            <a:avLst/>
          </a:prstGeom>
          <a:noFill/>
          <a:ln/>
        </p:spPr>
        <p:txBody>
          <a:bodyPr wrap="square" lIns="0" tIns="0" rIns="0" bIns="0" rtlCol="0" anchor="t"/>
          <a:lstStyle/>
          <a:p>
            <a:pPr indent="0" marL="0">
              <a:buNone/>
            </a:pPr>
            <a:r>
              <a:rPr lang="en-US" sz="1200" b="1" dirty="0">
                <a:solidFill>
                  <a:schemeClr val="tx2"/>
                </a:solidFill>
              </a:rPr>
              <a:t>Proposed hybrid</a:t>
            </a:r>
            <a:endParaRPr lang="en-US" sz="1200" dirty="0"/>
          </a:p>
        </p:txBody>
      </p:sp>
      <p:pic>
        <p:nvPicPr>
          <p:cNvPr id="9" name="weak reference" descr="scripts/presentation/build/img/699_img__reference.jpg">    </p:cNvPr>
          <p:cNvPicPr>
            <a:picLocks noChangeAspect="1"/>
          </p:cNvPicPr>
          <p:nvPr/>
        </p:nvPicPr>
        <p:blipFill>
          <a:blip r:embed="rId4"/>
          <a:stretch>
            <a:fillRect/>
          </a:stretch>
        </p:blipFill>
        <p:spPr>
          <a:xfrm>
            <a:off x="9040901" y="1325880"/>
            <a:ext cx="2602154" cy="1821508"/>
          </a:xfrm>
          <a:prstGeom prst="rect">
            <a:avLst/>
          </a:prstGeom>
        </p:spPr>
      </p:pic>
      <p:sp>
        <p:nvSpPr>
          <p:cNvPr id="10" name="Text 4"/>
          <p:cNvSpPr txBox="1"/>
          <p:nvPr/>
        </p:nvSpPr>
        <p:spPr>
          <a:xfrm>
            <a:off x="9040901" y="3220540"/>
            <a:ext cx="2602154" cy="292608"/>
          </a:xfrm>
          <a:prstGeom prst="rect">
            <a:avLst/>
          </a:prstGeom>
          <a:noFill/>
          <a:ln/>
        </p:spPr>
        <p:txBody>
          <a:bodyPr wrap="square" lIns="0" tIns="0" rIns="0" bIns="0" rtlCol="0" anchor="t"/>
          <a:lstStyle/>
          <a:p>
            <a:pPr indent="0" marL="0">
              <a:buNone/>
            </a:pPr>
            <a:r>
              <a:rPr lang="en-US" sz="1200" b="1" dirty="0">
                <a:solidFill>
                  <a:schemeClr val="tx2"/>
                </a:solidFill>
              </a:rPr>
              <a:t>UIEB reference</a:t>
            </a:r>
            <a:endParaRPr lang="en-US" sz="1200" dirty="0"/>
          </a:p>
        </p:txBody>
      </p:sp>
      <p:sp>
        <p:nvSpPr>
          <p:cNvPr id="11" name="limit card 0"/>
          <p:cNvSpPr/>
          <p:nvPr/>
        </p:nvSpPr>
        <p:spPr>
          <a:xfrm>
            <a:off x="548640" y="3696028"/>
            <a:ext cx="3515258" cy="2103120"/>
          </a:xfrm>
          <a:prstGeom prst="roundRect">
            <a:avLst>
              <a:gd name="adj" fmla="val 5217"/>
            </a:avLst>
          </a:prstGeom>
          <a:solidFill>
            <a:schemeClr val="bg2"/>
          </a:solidFill>
          <a:ln w="12700">
            <a:solidFill>
              <a:schemeClr val="bg2"/>
            </a:solidFill>
            <a:prstDash val="solid"/>
          </a:ln>
        </p:spPr>
      </p:sp>
      <p:sp>
        <p:nvSpPr>
          <p:cNvPr id="12" name="limit 0 circle"/>
          <p:cNvSpPr/>
          <p:nvPr/>
        </p:nvSpPr>
        <p:spPr>
          <a:xfrm>
            <a:off x="777240" y="3924628"/>
            <a:ext cx="548640" cy="548640"/>
          </a:xfrm>
          <a:prstGeom prst="ellipse">
            <a:avLst/>
          </a:prstGeom>
          <a:solidFill>
            <a:schemeClr val="accent2"/>
          </a:solidFill>
          <a:ln w="12700">
            <a:solidFill>
              <a:schemeClr val="accent2"/>
            </a:solidFill>
            <a:prstDash val="solid"/>
          </a:ln>
        </p:spPr>
      </p:sp>
      <p:pic>
        <p:nvPicPr>
          <p:cNvPr id="13" name="limit 0 glyph" descr="preencoded.png">    </p:cNvPr>
          <p:cNvPicPr>
            <a:picLocks noChangeAspect="1"/>
          </p:cNvPicPr>
          <p:nvPr/>
        </p:nvPicPr>
        <p:blipFill>
          <a:blip r:embed="rId5"/>
          <a:stretch>
            <a:fillRect/>
          </a:stretch>
        </p:blipFill>
        <p:spPr>
          <a:xfrm>
            <a:off x="897941" y="4045328"/>
            <a:ext cx="307238" cy="307238"/>
          </a:xfrm>
          <a:prstGeom prst="rect">
            <a:avLst/>
          </a:prstGeom>
        </p:spPr>
      </p:pic>
      <p:sp>
        <p:nvSpPr>
          <p:cNvPr id="14" name="Text 7"/>
          <p:cNvSpPr txBox="1"/>
          <p:nvPr/>
        </p:nvSpPr>
        <p:spPr>
          <a:xfrm>
            <a:off x="1508760" y="3970348"/>
            <a:ext cx="2372258" cy="457200"/>
          </a:xfrm>
          <a:prstGeom prst="rect">
            <a:avLst/>
          </a:prstGeom>
          <a:noFill/>
          <a:ln/>
        </p:spPr>
        <p:txBody>
          <a:bodyPr wrap="square" lIns="0" tIns="0" rIns="0" bIns="0" rtlCol="0" anchor="ctr"/>
          <a:lstStyle/>
          <a:p>
            <a:pPr indent="0" marL="0">
              <a:buNone/>
            </a:pPr>
            <a:r>
              <a:rPr lang="en-US" sz="1600" b="1" dirty="0">
                <a:solidFill>
                  <a:schemeClr val="tx2"/>
                </a:solidFill>
              </a:rPr>
              <a:t>No PSNR gain over CLAHE-only</a:t>
            </a:r>
            <a:endParaRPr lang="en-US" sz="1600" dirty="0"/>
          </a:p>
        </p:txBody>
      </p:sp>
      <p:sp>
        <p:nvSpPr>
          <p:cNvPr id="15" name="Text 8"/>
          <p:cNvSpPr txBox="1"/>
          <p:nvPr/>
        </p:nvSpPr>
        <p:spPr>
          <a:xfrm>
            <a:off x="777240" y="4610428"/>
            <a:ext cx="3058058" cy="1097280"/>
          </a:xfrm>
          <a:prstGeom prst="rect">
            <a:avLst/>
          </a:prstGeom>
          <a:noFill/>
          <a:ln/>
        </p:spPr>
        <p:txBody>
          <a:bodyPr wrap="square" lIns="0" tIns="0" rIns="0" bIns="0" rtlCol="0" anchor="t"/>
          <a:lstStyle/>
          <a:p>
            <a:pPr indent="0" marL="0">
              <a:buNone/>
            </a:pPr>
            <a:r>
              <a:rPr lang="en-US" sz="1300" dirty="0">
                <a:solidFill>
                  <a:schemeClr val="tx1"/>
                </a:solidFill>
              </a:rPr>
              <a:t>Level overall (−0.04 dB, negligible, not significant). CLAHE-only scores higher PSNR on 45% of test images, like this clear blue one (17.13 vs 19.24 dB).</a:t>
            </a:r>
            <a:endParaRPr lang="en-US" sz="1300" dirty="0"/>
          </a:p>
        </p:txBody>
      </p:sp>
      <p:sp>
        <p:nvSpPr>
          <p:cNvPr id="16" name="limit card 1"/>
          <p:cNvSpPr/>
          <p:nvPr/>
        </p:nvSpPr>
        <p:spPr>
          <a:xfrm>
            <a:off x="4338218" y="3696028"/>
            <a:ext cx="3515258" cy="2103120"/>
          </a:xfrm>
          <a:prstGeom prst="roundRect">
            <a:avLst>
              <a:gd name="adj" fmla="val 5217"/>
            </a:avLst>
          </a:prstGeom>
          <a:solidFill>
            <a:schemeClr val="bg2"/>
          </a:solidFill>
          <a:ln w="12700">
            <a:solidFill>
              <a:schemeClr val="bg2"/>
            </a:solidFill>
            <a:prstDash val="solid"/>
          </a:ln>
        </p:spPr>
      </p:sp>
      <p:sp>
        <p:nvSpPr>
          <p:cNvPr id="17" name="limit 1 circle"/>
          <p:cNvSpPr/>
          <p:nvPr/>
        </p:nvSpPr>
        <p:spPr>
          <a:xfrm>
            <a:off x="4566818" y="3924628"/>
            <a:ext cx="548640" cy="548640"/>
          </a:xfrm>
          <a:prstGeom prst="ellipse">
            <a:avLst/>
          </a:prstGeom>
          <a:solidFill>
            <a:schemeClr val="accent2"/>
          </a:solidFill>
          <a:ln w="12700">
            <a:solidFill>
              <a:schemeClr val="accent2"/>
            </a:solidFill>
            <a:prstDash val="solid"/>
          </a:ln>
        </p:spPr>
      </p:sp>
      <p:pic>
        <p:nvPicPr>
          <p:cNvPr id="18" name="limit 1 glyph" descr="preencoded.png">    </p:cNvPr>
          <p:cNvPicPr>
            <a:picLocks noChangeAspect="1"/>
          </p:cNvPicPr>
          <p:nvPr/>
        </p:nvPicPr>
        <p:blipFill>
          <a:blip r:embed="rId6"/>
          <a:stretch>
            <a:fillRect/>
          </a:stretch>
        </p:blipFill>
        <p:spPr>
          <a:xfrm>
            <a:off x="4687519" y="4045328"/>
            <a:ext cx="307238" cy="307238"/>
          </a:xfrm>
          <a:prstGeom prst="rect">
            <a:avLst/>
          </a:prstGeom>
        </p:spPr>
      </p:pic>
      <p:sp>
        <p:nvSpPr>
          <p:cNvPr id="19" name="Text 11"/>
          <p:cNvSpPr txBox="1"/>
          <p:nvPr/>
        </p:nvSpPr>
        <p:spPr>
          <a:xfrm>
            <a:off x="5298338" y="3970348"/>
            <a:ext cx="2372258" cy="457200"/>
          </a:xfrm>
          <a:prstGeom prst="rect">
            <a:avLst/>
          </a:prstGeom>
          <a:noFill/>
          <a:ln/>
        </p:spPr>
        <p:txBody>
          <a:bodyPr wrap="square" lIns="0" tIns="0" rIns="0" bIns="0" rtlCol="0" anchor="ctr"/>
          <a:lstStyle/>
          <a:p>
            <a:pPr indent="0" marL="0">
              <a:buNone/>
            </a:pPr>
            <a:r>
              <a:rPr lang="en-US" sz="1600" b="1" dirty="0">
                <a:solidFill>
                  <a:schemeClr val="tx2"/>
                </a:solidFill>
              </a:rPr>
              <a:t>Routing adds little</a:t>
            </a:r>
            <a:endParaRPr lang="en-US" sz="1600" dirty="0"/>
          </a:p>
        </p:txBody>
      </p:sp>
      <p:sp>
        <p:nvSpPr>
          <p:cNvPr id="20" name="Text 12"/>
          <p:cNvSpPr txBox="1"/>
          <p:nvPr/>
        </p:nvSpPr>
        <p:spPr>
          <a:xfrm>
            <a:off x="4566818" y="4610428"/>
            <a:ext cx="3058058" cy="1097280"/>
          </a:xfrm>
          <a:prstGeom prst="rect">
            <a:avLst/>
          </a:prstGeom>
          <a:noFill/>
          <a:ln/>
        </p:spPr>
        <p:txBody>
          <a:bodyPr wrap="square" lIns="0" tIns="0" rIns="0" bIns="0" rtlCol="0" anchor="t"/>
          <a:lstStyle/>
          <a:p>
            <a:pPr indent="0" marL="0">
              <a:buNone/>
            </a:pPr>
            <a:r>
              <a:rPr lang="en-US" sz="1300" dirty="0">
                <a:solidFill>
                  <a:schemeClr val="tx1"/>
                </a:solidFill>
              </a:rPr>
              <a:t>A per-image oracle profile would add 1.45 dB over one global profile; four water types capture +0.02 dB of it.</a:t>
            </a:r>
            <a:endParaRPr lang="en-US" sz="1300" dirty="0"/>
          </a:p>
        </p:txBody>
      </p:sp>
      <p:sp>
        <p:nvSpPr>
          <p:cNvPr id="21" name="limit card 2"/>
          <p:cNvSpPr/>
          <p:nvPr/>
        </p:nvSpPr>
        <p:spPr>
          <a:xfrm>
            <a:off x="8127797" y="3696028"/>
            <a:ext cx="3515258" cy="2103120"/>
          </a:xfrm>
          <a:prstGeom prst="roundRect">
            <a:avLst>
              <a:gd name="adj" fmla="val 5217"/>
            </a:avLst>
          </a:prstGeom>
          <a:solidFill>
            <a:schemeClr val="bg2"/>
          </a:solidFill>
          <a:ln w="12700">
            <a:solidFill>
              <a:schemeClr val="bg2"/>
            </a:solidFill>
            <a:prstDash val="solid"/>
          </a:ln>
        </p:spPr>
      </p:sp>
      <p:sp>
        <p:nvSpPr>
          <p:cNvPr id="22" name="limit 2 circle"/>
          <p:cNvSpPr/>
          <p:nvPr/>
        </p:nvSpPr>
        <p:spPr>
          <a:xfrm>
            <a:off x="8356397" y="3924628"/>
            <a:ext cx="548640" cy="548640"/>
          </a:xfrm>
          <a:prstGeom prst="ellipse">
            <a:avLst/>
          </a:prstGeom>
          <a:solidFill>
            <a:schemeClr val="accent2"/>
          </a:solidFill>
          <a:ln w="12700">
            <a:solidFill>
              <a:schemeClr val="accent2"/>
            </a:solidFill>
            <a:prstDash val="solid"/>
          </a:ln>
        </p:spPr>
      </p:sp>
      <p:pic>
        <p:nvPicPr>
          <p:cNvPr id="23" name="limit 2 glyph" descr="preencoded.png">    </p:cNvPr>
          <p:cNvPicPr>
            <a:picLocks noChangeAspect="1"/>
          </p:cNvPicPr>
          <p:nvPr/>
        </p:nvPicPr>
        <p:blipFill>
          <a:blip r:embed="rId7"/>
          <a:stretch>
            <a:fillRect/>
          </a:stretch>
        </p:blipFill>
        <p:spPr>
          <a:xfrm>
            <a:off x="8477098" y="4045328"/>
            <a:ext cx="307238" cy="307238"/>
          </a:xfrm>
          <a:prstGeom prst="rect">
            <a:avLst/>
          </a:prstGeom>
        </p:spPr>
      </p:pic>
      <p:sp>
        <p:nvSpPr>
          <p:cNvPr id="24" name="Text 15"/>
          <p:cNvSpPr txBox="1"/>
          <p:nvPr/>
        </p:nvSpPr>
        <p:spPr>
          <a:xfrm>
            <a:off x="9087917" y="3970348"/>
            <a:ext cx="2372258" cy="457200"/>
          </a:xfrm>
          <a:prstGeom prst="rect">
            <a:avLst/>
          </a:prstGeom>
          <a:noFill/>
          <a:ln/>
        </p:spPr>
        <p:txBody>
          <a:bodyPr wrap="square" lIns="0" tIns="0" rIns="0" bIns="0" rtlCol="0" anchor="ctr"/>
          <a:lstStyle/>
          <a:p>
            <a:pPr indent="0" marL="0">
              <a:buNone/>
            </a:pPr>
            <a:r>
              <a:rPr lang="en-US" sz="1600" b="1" dirty="0">
                <a:solidFill>
                  <a:schemeClr val="tx2"/>
                </a:solidFill>
              </a:rPr>
              <a:t>Calibration at the grid edge</a:t>
            </a:r>
            <a:endParaRPr lang="en-US" sz="1600" dirty="0"/>
          </a:p>
        </p:txBody>
      </p:sp>
      <p:sp>
        <p:nvSpPr>
          <p:cNvPr id="25" name="Text 16"/>
          <p:cNvSpPr txBox="1"/>
          <p:nvPr/>
        </p:nvSpPr>
        <p:spPr>
          <a:xfrm>
            <a:off x="8356397" y="4610428"/>
            <a:ext cx="3058058" cy="1097280"/>
          </a:xfrm>
          <a:prstGeom prst="rect">
            <a:avLst/>
          </a:prstGeom>
          <a:noFill/>
          <a:ln/>
        </p:spPr>
        <p:txBody>
          <a:bodyPr wrap="square" lIns="0" tIns="0" rIns="0" bIns="0" rtlCol="0" anchor="t"/>
          <a:lstStyle/>
          <a:p>
            <a:pPr indent="0" marL="0">
              <a:buNone/>
            </a:pPr>
            <a:r>
              <a:rPr lang="en-US" sz="1300" dirty="0">
                <a:solidFill>
                  <a:schemeClr val="tx1"/>
                </a:solidFill>
              </a:rPr>
              <a:t>WB cap 1.5, CLAHE × 0.6 and ω 0.5 are the mildest values searched: the references prefer gentler processing than the grid allowed.</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Rigour: issues we found and fixed</a:t>
            </a:r>
            <a:endParaRPr lang="en-US" sz="3200" dirty="0"/>
          </a:p>
        </p:txBody>
      </p:sp>
      <p:sp>
        <p:nvSpPr>
          <p:cNvPr id="3" name="fix card 0"/>
          <p:cNvSpPr/>
          <p:nvPr/>
        </p:nvSpPr>
        <p:spPr>
          <a:xfrm>
            <a:off x="548640" y="1371600"/>
            <a:ext cx="3515258" cy="2240280"/>
          </a:xfrm>
          <a:prstGeom prst="roundRect">
            <a:avLst>
              <a:gd name="adj" fmla="val 4898"/>
            </a:avLst>
          </a:prstGeom>
          <a:solidFill>
            <a:schemeClr val="bg2"/>
          </a:solidFill>
          <a:ln w="12700">
            <a:solidFill>
              <a:schemeClr val="bg2"/>
            </a:solidFill>
            <a:prstDash val="solid"/>
          </a:ln>
        </p:spPr>
      </p:sp>
      <p:sp>
        <p:nvSpPr>
          <p:cNvPr id="4" name="fix 0 circle"/>
          <p:cNvSpPr/>
          <p:nvPr/>
        </p:nvSpPr>
        <p:spPr>
          <a:xfrm>
            <a:off x="822960" y="1645920"/>
            <a:ext cx="594360" cy="594360"/>
          </a:xfrm>
          <a:prstGeom prst="ellipse">
            <a:avLst/>
          </a:prstGeom>
          <a:solidFill>
            <a:schemeClr val="accent3"/>
          </a:solidFill>
          <a:ln w="12700">
            <a:solidFill>
              <a:schemeClr val="accent3"/>
            </a:solidFill>
            <a:prstDash val="solid"/>
          </a:ln>
        </p:spPr>
      </p:sp>
      <p:pic>
        <p:nvPicPr>
          <p:cNvPr id="5" name="fix 0 glyph" descr="preencoded.png">    </p:cNvPr>
          <p:cNvPicPr>
            <a:picLocks noChangeAspect="1"/>
          </p:cNvPicPr>
          <p:nvPr/>
        </p:nvPicPr>
        <p:blipFill>
          <a:blip r:embed="rId1"/>
          <a:stretch>
            <a:fillRect/>
          </a:stretch>
        </p:blipFill>
        <p:spPr>
          <a:xfrm>
            <a:off x="953719" y="1776679"/>
            <a:ext cx="332842" cy="332842"/>
          </a:xfrm>
          <a:prstGeom prst="rect">
            <a:avLst/>
          </a:prstGeom>
        </p:spPr>
      </p:pic>
      <p:sp>
        <p:nvSpPr>
          <p:cNvPr id="6" name="Text 3"/>
          <p:cNvSpPr txBox="1"/>
          <p:nvPr/>
        </p:nvSpPr>
        <p:spPr>
          <a:xfrm>
            <a:off x="1554480" y="16459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UCIQE on 8-bit Lab</a:t>
            </a:r>
            <a:endParaRPr lang="en-US" sz="1600" dirty="0"/>
          </a:p>
        </p:txBody>
      </p:sp>
      <p:sp>
        <p:nvSpPr>
          <p:cNvPr id="7" name="Text 4"/>
          <p:cNvSpPr txBox="1"/>
          <p:nvPr/>
        </p:nvSpPr>
        <p:spPr>
          <a:xfrm>
            <a:off x="822960" y="2423160"/>
            <a:ext cx="2966618" cy="1097280"/>
          </a:xfrm>
          <a:prstGeom prst="rect">
            <a:avLst/>
          </a:prstGeom>
          <a:noFill/>
          <a:ln/>
        </p:spPr>
        <p:txBody>
          <a:bodyPr wrap="square" lIns="0" tIns="0" rIns="0" bIns="0" rtlCol="0" anchor="t"/>
          <a:lstStyle/>
          <a:p>
            <a:pPr indent="0" marL="0">
              <a:buNone/>
            </a:pPr>
            <a:r>
              <a:rPr lang="en-US" sz="1400" dirty="0">
                <a:solidFill>
                  <a:schemeClr val="tx1"/>
                </a:solidFill>
              </a:rPr>
              <a:t>OpenCV's encoding made grey pixels read as chroma ≈181; now computed in true CIELAB.</a:t>
            </a:r>
            <a:endParaRPr lang="en-US" sz="1400" dirty="0"/>
          </a:p>
        </p:txBody>
      </p:sp>
      <p:sp>
        <p:nvSpPr>
          <p:cNvPr id="8" name="fix card 1"/>
          <p:cNvSpPr/>
          <p:nvPr/>
        </p:nvSpPr>
        <p:spPr>
          <a:xfrm>
            <a:off x="4338218" y="1371600"/>
            <a:ext cx="3515258" cy="2240280"/>
          </a:xfrm>
          <a:prstGeom prst="roundRect">
            <a:avLst>
              <a:gd name="adj" fmla="val 4898"/>
            </a:avLst>
          </a:prstGeom>
          <a:solidFill>
            <a:schemeClr val="bg2"/>
          </a:solidFill>
          <a:ln w="12700">
            <a:solidFill>
              <a:schemeClr val="bg2"/>
            </a:solidFill>
            <a:prstDash val="solid"/>
          </a:ln>
        </p:spPr>
      </p:sp>
      <p:sp>
        <p:nvSpPr>
          <p:cNvPr id="9" name="fix 1 circle"/>
          <p:cNvSpPr/>
          <p:nvPr/>
        </p:nvSpPr>
        <p:spPr>
          <a:xfrm>
            <a:off x="4612538" y="1645920"/>
            <a:ext cx="594360" cy="594360"/>
          </a:xfrm>
          <a:prstGeom prst="ellipse">
            <a:avLst/>
          </a:prstGeom>
          <a:solidFill>
            <a:schemeClr val="accent3"/>
          </a:solidFill>
          <a:ln w="12700">
            <a:solidFill>
              <a:schemeClr val="accent3"/>
            </a:solidFill>
            <a:prstDash val="solid"/>
          </a:ln>
        </p:spPr>
      </p:sp>
      <p:pic>
        <p:nvPicPr>
          <p:cNvPr id="10" name="fix 1 glyph" descr="preencoded.png">    </p:cNvPr>
          <p:cNvPicPr>
            <a:picLocks noChangeAspect="1"/>
          </p:cNvPicPr>
          <p:nvPr/>
        </p:nvPicPr>
        <p:blipFill>
          <a:blip r:embed="rId2"/>
          <a:stretch>
            <a:fillRect/>
          </a:stretch>
        </p:blipFill>
        <p:spPr>
          <a:xfrm>
            <a:off x="4743298" y="1776679"/>
            <a:ext cx="332842" cy="332842"/>
          </a:xfrm>
          <a:prstGeom prst="rect">
            <a:avLst/>
          </a:prstGeom>
        </p:spPr>
      </p:pic>
      <p:sp>
        <p:nvSpPr>
          <p:cNvPr id="11" name="Text 7"/>
          <p:cNvSpPr txBox="1"/>
          <p:nvPr/>
        </p:nvSpPr>
        <p:spPr>
          <a:xfrm>
            <a:off x="5344058" y="16459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Mis-scaled optimiser</a:t>
            </a:r>
            <a:endParaRPr lang="en-US" sz="1600" dirty="0"/>
          </a:p>
        </p:txBody>
      </p:sp>
      <p:sp>
        <p:nvSpPr>
          <p:cNvPr id="12" name="Text 8"/>
          <p:cNvSpPr txBox="1"/>
          <p:nvPr/>
        </p:nvSpPr>
        <p:spPr>
          <a:xfrm>
            <a:off x="4612538" y="2423160"/>
            <a:ext cx="2966618" cy="1097280"/>
          </a:xfrm>
          <a:prstGeom prst="rect">
            <a:avLst/>
          </a:prstGeom>
          <a:noFill/>
          <a:ln/>
        </p:spPr>
        <p:txBody>
          <a:bodyPr wrap="square" lIns="0" tIns="0" rIns="0" bIns="0" rtlCol="0" anchor="t"/>
          <a:lstStyle/>
          <a:p>
            <a:pPr indent="0" marL="0">
              <a:buNone/>
            </a:pPr>
            <a:r>
              <a:rPr lang="en-US" sz="1400" dirty="0">
                <a:solidFill>
                  <a:schemeClr val="tx1"/>
                </a:solidFill>
              </a:rPr>
              <a:t>The objective was ≈49 parts UCIQE to 0.2 UIQM; fixing it exposed the misalignment finding.</a:t>
            </a:r>
            <a:endParaRPr lang="en-US" sz="1400" dirty="0"/>
          </a:p>
        </p:txBody>
      </p:sp>
      <p:sp>
        <p:nvSpPr>
          <p:cNvPr id="13" name="fix card 2"/>
          <p:cNvSpPr/>
          <p:nvPr/>
        </p:nvSpPr>
        <p:spPr>
          <a:xfrm>
            <a:off x="8127797" y="1371600"/>
            <a:ext cx="3515258" cy="2240280"/>
          </a:xfrm>
          <a:prstGeom prst="roundRect">
            <a:avLst>
              <a:gd name="adj" fmla="val 4898"/>
            </a:avLst>
          </a:prstGeom>
          <a:solidFill>
            <a:schemeClr val="bg2"/>
          </a:solidFill>
          <a:ln w="12700">
            <a:solidFill>
              <a:schemeClr val="bg2"/>
            </a:solidFill>
            <a:prstDash val="solid"/>
          </a:ln>
        </p:spPr>
      </p:sp>
      <p:sp>
        <p:nvSpPr>
          <p:cNvPr id="14" name="fix 2 circle"/>
          <p:cNvSpPr/>
          <p:nvPr/>
        </p:nvSpPr>
        <p:spPr>
          <a:xfrm>
            <a:off x="8402117" y="1645920"/>
            <a:ext cx="594360" cy="594360"/>
          </a:xfrm>
          <a:prstGeom prst="ellipse">
            <a:avLst/>
          </a:prstGeom>
          <a:solidFill>
            <a:schemeClr val="accent3"/>
          </a:solidFill>
          <a:ln w="12700">
            <a:solidFill>
              <a:schemeClr val="accent3"/>
            </a:solidFill>
            <a:prstDash val="solid"/>
          </a:ln>
        </p:spPr>
      </p:sp>
      <p:pic>
        <p:nvPicPr>
          <p:cNvPr id="15" name="fix 2 glyph" descr="preencoded.png">    </p:cNvPr>
          <p:cNvPicPr>
            <a:picLocks noChangeAspect="1"/>
          </p:cNvPicPr>
          <p:nvPr/>
        </p:nvPicPr>
        <p:blipFill>
          <a:blip r:embed="rId3"/>
          <a:stretch>
            <a:fillRect/>
          </a:stretch>
        </p:blipFill>
        <p:spPr>
          <a:xfrm>
            <a:off x="8532876" y="1776679"/>
            <a:ext cx="332842" cy="332842"/>
          </a:xfrm>
          <a:prstGeom prst="rect">
            <a:avLst/>
          </a:prstGeom>
        </p:spPr>
      </p:pic>
      <p:sp>
        <p:nvSpPr>
          <p:cNvPr id="16" name="Text 11"/>
          <p:cNvSpPr txBox="1"/>
          <p:nvPr/>
        </p:nvSpPr>
        <p:spPr>
          <a:xfrm>
            <a:off x="9133637" y="16459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White-balance cap unused</a:t>
            </a:r>
            <a:endParaRPr lang="en-US" sz="1600" dirty="0"/>
          </a:p>
        </p:txBody>
      </p:sp>
      <p:sp>
        <p:nvSpPr>
          <p:cNvPr id="17" name="Text 12"/>
          <p:cNvSpPr txBox="1"/>
          <p:nvPr/>
        </p:nvSpPr>
        <p:spPr>
          <a:xfrm>
            <a:off x="8402117" y="2423160"/>
            <a:ext cx="2966618" cy="1097280"/>
          </a:xfrm>
          <a:prstGeom prst="rect">
            <a:avLst/>
          </a:prstGeom>
          <a:noFill/>
          <a:ln/>
        </p:spPr>
        <p:txBody>
          <a:bodyPr wrap="square" lIns="0" tIns="0" rIns="0" bIns="0" rtlCol="0" anchor="t"/>
          <a:lstStyle/>
          <a:p>
            <a:pPr indent="0" marL="0">
              <a:buNone/>
            </a:pPr>
            <a:r>
              <a:rPr lang="en-US" sz="1400" dirty="0">
                <a:solidFill>
                  <a:schemeClr val="tx1"/>
                </a:solidFill>
              </a:rPr>
              <a:t>The per-type gain cap was defined but never applied; now passed through.</a:t>
            </a:r>
            <a:endParaRPr lang="en-US" sz="1400" dirty="0"/>
          </a:p>
        </p:txBody>
      </p:sp>
      <p:sp>
        <p:nvSpPr>
          <p:cNvPr id="18" name="fix card 3"/>
          <p:cNvSpPr/>
          <p:nvPr/>
        </p:nvSpPr>
        <p:spPr>
          <a:xfrm>
            <a:off x="548640" y="3886200"/>
            <a:ext cx="3515258" cy="2240280"/>
          </a:xfrm>
          <a:prstGeom prst="roundRect">
            <a:avLst>
              <a:gd name="adj" fmla="val 4898"/>
            </a:avLst>
          </a:prstGeom>
          <a:solidFill>
            <a:schemeClr val="bg2"/>
          </a:solidFill>
          <a:ln w="12700">
            <a:solidFill>
              <a:schemeClr val="bg2"/>
            </a:solidFill>
            <a:prstDash val="solid"/>
          </a:ln>
        </p:spPr>
      </p:sp>
      <p:sp>
        <p:nvSpPr>
          <p:cNvPr id="19" name="fix 3 circle"/>
          <p:cNvSpPr/>
          <p:nvPr/>
        </p:nvSpPr>
        <p:spPr>
          <a:xfrm>
            <a:off x="822960" y="4160520"/>
            <a:ext cx="594360" cy="594360"/>
          </a:xfrm>
          <a:prstGeom prst="ellipse">
            <a:avLst/>
          </a:prstGeom>
          <a:solidFill>
            <a:schemeClr val="accent3"/>
          </a:solidFill>
          <a:ln w="12700">
            <a:solidFill>
              <a:schemeClr val="accent3"/>
            </a:solidFill>
            <a:prstDash val="solid"/>
          </a:ln>
        </p:spPr>
      </p:sp>
      <p:pic>
        <p:nvPicPr>
          <p:cNvPr id="20" name="fix 3 glyph" descr="preencoded.png">    </p:cNvPr>
          <p:cNvPicPr>
            <a:picLocks noChangeAspect="1"/>
          </p:cNvPicPr>
          <p:nvPr/>
        </p:nvPicPr>
        <p:blipFill>
          <a:blip r:embed="rId4"/>
          <a:stretch>
            <a:fillRect/>
          </a:stretch>
        </p:blipFill>
        <p:spPr>
          <a:xfrm>
            <a:off x="953719" y="4291279"/>
            <a:ext cx="332842" cy="332842"/>
          </a:xfrm>
          <a:prstGeom prst="rect">
            <a:avLst/>
          </a:prstGeom>
        </p:spPr>
      </p:pic>
      <p:sp>
        <p:nvSpPr>
          <p:cNvPr id="21" name="Text 15"/>
          <p:cNvSpPr txBox="1"/>
          <p:nvPr/>
        </p:nvSpPr>
        <p:spPr>
          <a:xfrm>
            <a:off x="1554480" y="41605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Tuned on the test images</a:t>
            </a:r>
            <a:endParaRPr lang="en-US" sz="1600" dirty="0"/>
          </a:p>
        </p:txBody>
      </p:sp>
      <p:sp>
        <p:nvSpPr>
          <p:cNvPr id="22" name="Text 16"/>
          <p:cNvSpPr txBox="1"/>
          <p:nvPr/>
        </p:nvSpPr>
        <p:spPr>
          <a:xfrm>
            <a:off x="822960" y="4937760"/>
            <a:ext cx="2966618" cy="1097280"/>
          </a:xfrm>
          <a:prstGeom prst="rect">
            <a:avLst/>
          </a:prstGeom>
          <a:noFill/>
          <a:ln/>
        </p:spPr>
        <p:txBody>
          <a:bodyPr wrap="square" lIns="0" tIns="0" rIns="0" bIns="0" rtlCol="0" anchor="t"/>
          <a:lstStyle/>
          <a:p>
            <a:pPr indent="0" marL="0">
              <a:buNone/>
            </a:pPr>
            <a:r>
              <a:rPr lang="en-US" sz="1400" dirty="0">
                <a:solidFill>
                  <a:schemeClr val="tx1"/>
                </a:solidFill>
              </a:rPr>
              <a:t>Hand-set profiles were judged on the same images; now a held-out 30/70 split.</a:t>
            </a:r>
            <a:endParaRPr lang="en-US" sz="1400" dirty="0"/>
          </a:p>
        </p:txBody>
      </p:sp>
      <p:sp>
        <p:nvSpPr>
          <p:cNvPr id="23" name="fix card 4"/>
          <p:cNvSpPr/>
          <p:nvPr/>
        </p:nvSpPr>
        <p:spPr>
          <a:xfrm>
            <a:off x="4338218" y="3886200"/>
            <a:ext cx="3515258" cy="2240280"/>
          </a:xfrm>
          <a:prstGeom prst="roundRect">
            <a:avLst>
              <a:gd name="adj" fmla="val 4898"/>
            </a:avLst>
          </a:prstGeom>
          <a:solidFill>
            <a:schemeClr val="bg2"/>
          </a:solidFill>
          <a:ln w="12700">
            <a:solidFill>
              <a:schemeClr val="bg2"/>
            </a:solidFill>
            <a:prstDash val="solid"/>
          </a:ln>
        </p:spPr>
      </p:sp>
      <p:sp>
        <p:nvSpPr>
          <p:cNvPr id="24" name="fix 4 circle"/>
          <p:cNvSpPr/>
          <p:nvPr/>
        </p:nvSpPr>
        <p:spPr>
          <a:xfrm>
            <a:off x="4612538" y="4160520"/>
            <a:ext cx="594360" cy="594360"/>
          </a:xfrm>
          <a:prstGeom prst="ellipse">
            <a:avLst/>
          </a:prstGeom>
          <a:solidFill>
            <a:schemeClr val="accent3"/>
          </a:solidFill>
          <a:ln w="12700">
            <a:solidFill>
              <a:schemeClr val="accent3"/>
            </a:solidFill>
            <a:prstDash val="solid"/>
          </a:ln>
        </p:spPr>
      </p:sp>
      <p:pic>
        <p:nvPicPr>
          <p:cNvPr id="25" name="fix 4 glyph" descr="preencoded.png">    </p:cNvPr>
          <p:cNvPicPr>
            <a:picLocks noChangeAspect="1"/>
          </p:cNvPicPr>
          <p:nvPr/>
        </p:nvPicPr>
        <p:blipFill>
          <a:blip r:embed="rId5"/>
          <a:stretch>
            <a:fillRect/>
          </a:stretch>
        </p:blipFill>
        <p:spPr>
          <a:xfrm>
            <a:off x="4743298" y="4291279"/>
            <a:ext cx="332842" cy="332842"/>
          </a:xfrm>
          <a:prstGeom prst="rect">
            <a:avLst/>
          </a:prstGeom>
        </p:spPr>
      </p:pic>
      <p:sp>
        <p:nvSpPr>
          <p:cNvPr id="26" name="Text 19"/>
          <p:cNvSpPr txBox="1"/>
          <p:nvPr/>
        </p:nvSpPr>
        <p:spPr>
          <a:xfrm>
            <a:off x="5344058" y="41605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No multiple-comparison control</a:t>
            </a:r>
            <a:endParaRPr lang="en-US" sz="1600" dirty="0"/>
          </a:p>
        </p:txBody>
      </p:sp>
      <p:sp>
        <p:nvSpPr>
          <p:cNvPr id="27" name="Text 20"/>
          <p:cNvSpPr txBox="1"/>
          <p:nvPr/>
        </p:nvSpPr>
        <p:spPr>
          <a:xfrm>
            <a:off x="4612538" y="4937760"/>
            <a:ext cx="2966618" cy="1097280"/>
          </a:xfrm>
          <a:prstGeom prst="rect">
            <a:avLst/>
          </a:prstGeom>
          <a:noFill/>
          <a:ln/>
        </p:spPr>
        <p:txBody>
          <a:bodyPr wrap="square" lIns="0" tIns="0" rIns="0" bIns="0" rtlCol="0" anchor="t"/>
          <a:lstStyle/>
          <a:p>
            <a:pPr indent="0" marL="0">
              <a:buNone/>
            </a:pPr>
            <a:r>
              <a:rPr lang="en-US" sz="1400" dirty="0">
                <a:solidFill>
                  <a:schemeClr val="tx1"/>
                </a:solidFill>
              </a:rPr>
              <a:t>25 raw p-values; now Holm correction, effect sizes and 95% CIs.</a:t>
            </a:r>
            <a:endParaRPr lang="en-US" sz="1400" dirty="0"/>
          </a:p>
        </p:txBody>
      </p:sp>
      <p:sp>
        <p:nvSpPr>
          <p:cNvPr id="28" name="fix card 5"/>
          <p:cNvSpPr/>
          <p:nvPr/>
        </p:nvSpPr>
        <p:spPr>
          <a:xfrm>
            <a:off x="8127797" y="3886200"/>
            <a:ext cx="3515258" cy="2240280"/>
          </a:xfrm>
          <a:prstGeom prst="roundRect">
            <a:avLst>
              <a:gd name="adj" fmla="val 4898"/>
            </a:avLst>
          </a:prstGeom>
          <a:solidFill>
            <a:schemeClr val="bg2"/>
          </a:solidFill>
          <a:ln w="12700">
            <a:solidFill>
              <a:schemeClr val="bg2"/>
            </a:solidFill>
            <a:prstDash val="solid"/>
          </a:ln>
        </p:spPr>
      </p:sp>
      <p:sp>
        <p:nvSpPr>
          <p:cNvPr id="29" name="fix 5 circle"/>
          <p:cNvSpPr/>
          <p:nvPr/>
        </p:nvSpPr>
        <p:spPr>
          <a:xfrm>
            <a:off x="8402117" y="4160520"/>
            <a:ext cx="594360" cy="594360"/>
          </a:xfrm>
          <a:prstGeom prst="ellipse">
            <a:avLst/>
          </a:prstGeom>
          <a:solidFill>
            <a:schemeClr val="accent3"/>
          </a:solidFill>
          <a:ln w="12700">
            <a:solidFill>
              <a:schemeClr val="accent3"/>
            </a:solidFill>
            <a:prstDash val="solid"/>
          </a:ln>
        </p:spPr>
      </p:sp>
      <p:pic>
        <p:nvPicPr>
          <p:cNvPr id="30" name="fix 5 glyph" descr="preencoded.png">    </p:cNvPr>
          <p:cNvPicPr>
            <a:picLocks noChangeAspect="1"/>
          </p:cNvPicPr>
          <p:nvPr/>
        </p:nvPicPr>
        <p:blipFill>
          <a:blip r:embed="rId6"/>
          <a:stretch>
            <a:fillRect/>
          </a:stretch>
        </p:blipFill>
        <p:spPr>
          <a:xfrm>
            <a:off x="8532876" y="4291279"/>
            <a:ext cx="332842" cy="332842"/>
          </a:xfrm>
          <a:prstGeom prst="rect">
            <a:avLst/>
          </a:prstGeom>
        </p:spPr>
      </p:pic>
      <p:sp>
        <p:nvSpPr>
          <p:cNvPr id="31" name="Text 23"/>
          <p:cNvSpPr txBox="1"/>
          <p:nvPr/>
        </p:nvSpPr>
        <p:spPr>
          <a:xfrm>
            <a:off x="9133637" y="4160520"/>
            <a:ext cx="2326538" cy="594360"/>
          </a:xfrm>
          <a:prstGeom prst="rect">
            <a:avLst/>
          </a:prstGeom>
          <a:noFill/>
          <a:ln/>
        </p:spPr>
        <p:txBody>
          <a:bodyPr wrap="square" lIns="0" tIns="0" rIns="0" bIns="0" rtlCol="0" anchor="ctr"/>
          <a:lstStyle/>
          <a:p>
            <a:pPr indent="0" marL="0">
              <a:buNone/>
            </a:pPr>
            <a:r>
              <a:rPr lang="en-US" sz="1600" b="1" dirty="0">
                <a:solidFill>
                  <a:schemeClr val="tx2"/>
                </a:solidFill>
              </a:rPr>
              <a:t>Gamma convention inverted</a:t>
            </a:r>
            <a:endParaRPr lang="en-US" sz="1600" dirty="0"/>
          </a:p>
        </p:txBody>
      </p:sp>
      <p:sp>
        <p:nvSpPr>
          <p:cNvPr id="32" name="Text 24"/>
          <p:cNvSpPr txBox="1"/>
          <p:nvPr/>
        </p:nvSpPr>
        <p:spPr>
          <a:xfrm>
            <a:off x="8402117" y="4937760"/>
            <a:ext cx="2966618" cy="1097280"/>
          </a:xfrm>
          <a:prstGeom prst="rect">
            <a:avLst/>
          </a:prstGeom>
          <a:noFill/>
          <a:ln/>
        </p:spPr>
        <p:txBody>
          <a:bodyPr wrap="square" lIns="0" tIns="0" rIns="0" bIns="0" rtlCol="0" anchor="t"/>
          <a:lstStyle/>
          <a:p>
            <a:pPr indent="0" marL="0">
              <a:buNone/>
            </a:pPr>
            <a:r>
              <a:rPr lang="en-US" sz="1400" dirty="0">
                <a:solidFill>
                  <a:schemeClr val="tx1"/>
                </a:solidFill>
              </a:rPr>
              <a:t>γ was derived for input^γ but applied as input^(1/γ), inverting the adaptivity; fixed and re-calibrated.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Live demo</a:t>
            </a:r>
            <a:endParaRPr lang="en-US" sz="3200" dirty="0"/>
          </a:p>
        </p:txBody>
      </p:sp>
      <p:sp>
        <p:nvSpPr>
          <p:cNvPr id="3" name="demo step 1"/>
          <p:cNvSpPr/>
          <p:nvPr/>
        </p:nvSpPr>
        <p:spPr>
          <a:xfrm>
            <a:off x="548640" y="1371600"/>
            <a:ext cx="502920" cy="502920"/>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371600"/>
            <a:ext cx="6766560" cy="502920"/>
          </a:xfrm>
          <a:prstGeom prst="rect">
            <a:avLst/>
          </a:prstGeom>
          <a:noFill/>
          <a:ln/>
        </p:spPr>
        <p:txBody>
          <a:bodyPr wrap="square" lIns="0" tIns="0" rIns="0" bIns="0" rtlCol="0" anchor="ctr"/>
          <a:lstStyle/>
          <a:p>
            <a:pPr indent="0" marL="0">
              <a:buNone/>
            </a:pPr>
            <a:r>
              <a:rPr lang="en-US" sz="1600" dirty="0">
                <a:solidFill>
                  <a:schemeClr val="tx1"/>
                </a:solidFill>
              </a:rPr>
              <a:t>Compare tab: pick 773_img_ (green turbid) and compare against every method</a:t>
            </a:r>
            <a:endParaRPr lang="en-US" sz="1600" dirty="0"/>
          </a:p>
        </p:txBody>
      </p:sp>
      <p:sp>
        <p:nvSpPr>
          <p:cNvPr id="6" name="demo step 2"/>
          <p:cNvSpPr/>
          <p:nvPr/>
        </p:nvSpPr>
        <p:spPr>
          <a:xfrm>
            <a:off x="548640" y="214884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548640" y="21488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80160" y="2148840"/>
            <a:ext cx="6766560" cy="502920"/>
          </a:xfrm>
          <a:prstGeom prst="rect">
            <a:avLst/>
          </a:prstGeom>
          <a:noFill/>
          <a:ln/>
        </p:spPr>
        <p:txBody>
          <a:bodyPr wrap="square" lIns="0" tIns="0" rIns="0" bIns="0" rtlCol="0" anchor="ctr"/>
          <a:lstStyle/>
          <a:p>
            <a:pPr indent="0" marL="0">
              <a:buNone/>
            </a:pPr>
            <a:r>
              <a:rPr lang="en-US" sz="1600" dirty="0">
                <a:solidFill>
                  <a:schemeClr val="tx1"/>
                </a:solidFill>
              </a:rPr>
              <a:t>Pipeline tab: walk the stages and drag the α preview slider</a:t>
            </a:r>
            <a:endParaRPr lang="en-US" sz="1600" dirty="0"/>
          </a:p>
        </p:txBody>
      </p:sp>
      <p:sp>
        <p:nvSpPr>
          <p:cNvPr id="9" name="demo step 3"/>
          <p:cNvSpPr/>
          <p:nvPr/>
        </p:nvSpPr>
        <p:spPr>
          <a:xfrm>
            <a:off x="548640" y="292608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548640" y="2926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80160" y="2926080"/>
            <a:ext cx="6766560" cy="502920"/>
          </a:xfrm>
          <a:prstGeom prst="rect">
            <a:avLst/>
          </a:prstGeom>
          <a:noFill/>
          <a:ln/>
        </p:spPr>
        <p:txBody>
          <a:bodyPr wrap="square" lIns="0" tIns="0" rIns="0" bIns="0" rtlCol="0" anchor="ctr"/>
          <a:lstStyle/>
          <a:p>
            <a:pPr indent="0" marL="0">
              <a:buNone/>
            </a:pPr>
            <a:r>
              <a:rPr lang="en-US" sz="1600" dirty="0">
                <a:solidFill>
                  <a:schemeClr val="tx1"/>
                </a:solidFill>
              </a:rPr>
              <a:t>Toggle Module 5 and Module 7 off and on, watching PSNR/SSIM in the header</a:t>
            </a:r>
            <a:endParaRPr lang="en-US" sz="1600" dirty="0"/>
          </a:p>
        </p:txBody>
      </p:sp>
      <p:sp>
        <p:nvSpPr>
          <p:cNvPr id="12" name="demo step 4"/>
          <p:cNvSpPr/>
          <p:nvPr/>
        </p:nvSpPr>
        <p:spPr>
          <a:xfrm>
            <a:off x="548640" y="370332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548640" y="3703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80160" y="3703320"/>
            <a:ext cx="6766560" cy="502920"/>
          </a:xfrm>
          <a:prstGeom prst="rect">
            <a:avLst/>
          </a:prstGeom>
          <a:noFill/>
          <a:ln/>
        </p:spPr>
        <p:txBody>
          <a:bodyPr wrap="square" lIns="0" tIns="0" rIns="0" bIns="0" rtlCol="0" anchor="ctr"/>
          <a:lstStyle/>
          <a:p>
            <a:pPr indent="0" marL="0">
              <a:buNone/>
            </a:pPr>
            <a:r>
              <a:rPr lang="en-US" sz="1600" dirty="0">
                <a:solidFill>
                  <a:schemeClr val="tx1"/>
                </a:solidFill>
              </a:rPr>
              <a:t>Metrics tab: no-reference scores vs. the PSNR/SSIM table</a:t>
            </a:r>
            <a:endParaRPr lang="en-US" sz="1600" dirty="0"/>
          </a:p>
        </p:txBody>
      </p:sp>
      <p:sp>
        <p:nvSpPr>
          <p:cNvPr id="15" name="demo step 5"/>
          <p:cNvSpPr/>
          <p:nvPr/>
        </p:nvSpPr>
        <p:spPr>
          <a:xfrm>
            <a:off x="548640" y="448056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548640" y="4480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280160" y="4480560"/>
            <a:ext cx="6766560" cy="502920"/>
          </a:xfrm>
          <a:prstGeom prst="rect">
            <a:avLst/>
          </a:prstGeom>
          <a:noFill/>
          <a:ln/>
        </p:spPr>
        <p:txBody>
          <a:bodyPr wrap="square" lIns="0" tIns="0" rIns="0" bIns="0" rtlCol="0" anchor="ctr"/>
          <a:lstStyle/>
          <a:p>
            <a:pPr indent="0" marL="0">
              <a:buNone/>
            </a:pPr>
            <a:r>
              <a:rPr lang="en-US" sz="1600" dirty="0">
                <a:solidFill>
                  <a:schemeClr val="tx1"/>
                </a:solidFill>
              </a:rPr>
              <a:t>Downstream tab: run ORB keypoint and edge validation</a:t>
            </a:r>
            <a:endParaRPr lang="en-US" sz="1600" dirty="0"/>
          </a:p>
        </p:txBody>
      </p:sp>
      <p:sp>
        <p:nvSpPr>
          <p:cNvPr id="18" name="demo step 6"/>
          <p:cNvSpPr/>
          <p:nvPr/>
        </p:nvSpPr>
        <p:spPr>
          <a:xfrm>
            <a:off x="548640" y="5257800"/>
            <a:ext cx="502920" cy="502920"/>
          </a:xfrm>
          <a:prstGeom prst="ellipse">
            <a:avLst/>
          </a:prstGeom>
          <a:solidFill>
            <a:schemeClr val="accent1"/>
          </a:solidFill>
          <a:ln w="12700">
            <a:solidFill>
              <a:schemeClr val="accent1"/>
            </a:solidFill>
            <a:prstDash val="solid"/>
          </a:ln>
        </p:spPr>
      </p:sp>
      <p:sp>
        <p:nvSpPr>
          <p:cNvPr id="19" name="Text 17"/>
          <p:cNvSpPr txBox="1"/>
          <p:nvPr/>
        </p:nvSpPr>
        <p:spPr>
          <a:xfrm>
            <a:off x="548640" y="5257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1280160" y="5257800"/>
            <a:ext cx="6766560" cy="502920"/>
          </a:xfrm>
          <a:prstGeom prst="rect">
            <a:avLst/>
          </a:prstGeom>
          <a:noFill/>
          <a:ln/>
        </p:spPr>
        <p:txBody>
          <a:bodyPr wrap="square" lIns="0" tIns="0" rIns="0" bIns="0" rtlCol="0" anchor="ctr"/>
          <a:lstStyle/>
          <a:p>
            <a:pPr indent="0" marL="0">
              <a:buNone/>
            </a:pPr>
            <a:r>
              <a:rPr lang="en-US" sz="1600" dirty="0">
                <a:solidFill>
                  <a:schemeClr val="tx1"/>
                </a:solidFill>
              </a:rPr>
              <a:t>Switch to 699_img_ (clear blue) to show the limitation</a:t>
            </a:r>
            <a:endParaRPr lang="en-US" sz="1600" dirty="0"/>
          </a:p>
        </p:txBody>
      </p:sp>
      <p:sp>
        <p:nvSpPr>
          <p:cNvPr id="21" name="demo card"/>
          <p:cNvSpPr/>
          <p:nvPr/>
        </p:nvSpPr>
        <p:spPr>
          <a:xfrm>
            <a:off x="8229600" y="1371600"/>
            <a:ext cx="3413455" cy="4572000"/>
          </a:xfrm>
          <a:prstGeom prst="roundRect">
            <a:avLst>
              <a:gd name="adj" fmla="val 3215"/>
            </a:avLst>
          </a:prstGeom>
          <a:solidFill>
            <a:schemeClr val="tx2"/>
          </a:solidFill>
          <a:ln w="12700">
            <a:solidFill>
              <a:schemeClr val="tx2"/>
            </a:solidFill>
            <a:prstDash val="solid"/>
          </a:ln>
        </p:spPr>
      </p:sp>
      <p:sp>
        <p:nvSpPr>
          <p:cNvPr id="22" name="demo circle"/>
          <p:cNvSpPr/>
          <p:nvPr/>
        </p:nvSpPr>
        <p:spPr>
          <a:xfrm>
            <a:off x="9296248" y="1828800"/>
            <a:ext cx="1280160" cy="1280160"/>
          </a:xfrm>
          <a:prstGeom prst="ellipse">
            <a:avLst/>
          </a:prstGeom>
          <a:solidFill>
            <a:schemeClr val="accent1"/>
          </a:solidFill>
          <a:ln w="12700">
            <a:solidFill>
              <a:schemeClr val="accent1"/>
            </a:solidFill>
            <a:prstDash val="solid"/>
          </a:ln>
        </p:spPr>
      </p:sp>
      <p:pic>
        <p:nvPicPr>
          <p:cNvPr id="23" name="demo glyph" descr="preencoded.png">    </p:cNvPr>
          <p:cNvPicPr>
            <a:picLocks noChangeAspect="1"/>
          </p:cNvPicPr>
          <p:nvPr/>
        </p:nvPicPr>
        <p:blipFill>
          <a:blip r:embed="rId1"/>
          <a:stretch>
            <a:fillRect/>
          </a:stretch>
        </p:blipFill>
        <p:spPr>
          <a:xfrm>
            <a:off x="9577883" y="2110435"/>
            <a:ext cx="716890" cy="716890"/>
          </a:xfrm>
          <a:prstGeom prst="rect">
            <a:avLst/>
          </a:prstGeom>
        </p:spPr>
      </p:pic>
      <p:sp>
        <p:nvSpPr>
          <p:cNvPr id="24" name="Text 21"/>
          <p:cNvSpPr txBox="1"/>
          <p:nvPr/>
        </p:nvSpPr>
        <p:spPr>
          <a:xfrm>
            <a:off x="8503920" y="3337560"/>
            <a:ext cx="2864815" cy="411480"/>
          </a:xfrm>
          <a:prstGeom prst="rect">
            <a:avLst/>
          </a:prstGeom>
          <a:noFill/>
          <a:ln/>
        </p:spPr>
        <p:txBody>
          <a:bodyPr wrap="square" lIns="0" tIns="0" rIns="0" bIns="0" rtlCol="0" anchor="t"/>
          <a:lstStyle/>
          <a:p>
            <a:pPr algn="ctr" indent="0" marL="0">
              <a:buNone/>
            </a:pPr>
            <a:r>
              <a:rPr lang="en-US" sz="2000" b="1" dirty="0">
                <a:solidFill>
                  <a:schemeClr val="bg1"/>
                </a:solidFill>
              </a:rPr>
              <a:t>Streamlit app</a:t>
            </a:r>
            <a:endParaRPr lang="en-US" sz="2000" dirty="0"/>
          </a:p>
        </p:txBody>
      </p:sp>
      <p:sp>
        <p:nvSpPr>
          <p:cNvPr id="25" name="Text 22"/>
          <p:cNvSpPr txBox="1"/>
          <p:nvPr/>
        </p:nvSpPr>
        <p:spPr>
          <a:xfrm>
            <a:off x="8503920" y="3840480"/>
            <a:ext cx="2864815" cy="411480"/>
          </a:xfrm>
          <a:prstGeom prst="rect">
            <a:avLst/>
          </a:prstGeom>
          <a:noFill/>
          <a:ln/>
        </p:spPr>
        <p:txBody>
          <a:bodyPr wrap="square" lIns="0" tIns="0" rIns="0" bIns="0" rtlCol="0" anchor="t"/>
          <a:lstStyle/>
          <a:p>
            <a:pPr algn="ctr" indent="0" marL="0">
              <a:buNone/>
            </a:pPr>
            <a:r>
              <a:rPr lang="en-US" sz="1300" dirty="0">
                <a:solidFill>
                  <a:schemeClr val="bg2"/>
                </a:solidFill>
                <a:latin typeface="Courier New" pitchFamily="34" charset="0"/>
                <a:ea typeface="Courier New" pitchFamily="34" charset="-122"/>
                <a:cs typeface="Courier New" pitchFamily="34" charset="-120"/>
              </a:rPr>
              <a:t>streamlit run app/streamlit_app.py</a:t>
            </a:r>
            <a:endParaRPr lang="en-US" sz="1300" dirty="0"/>
          </a:p>
        </p:txBody>
      </p:sp>
      <p:sp>
        <p:nvSpPr>
          <p:cNvPr id="26" name="Text 23"/>
          <p:cNvSpPr txBox="1"/>
          <p:nvPr/>
        </p:nvSpPr>
        <p:spPr>
          <a:xfrm>
            <a:off x="8503920" y="4480560"/>
            <a:ext cx="2864815" cy="822960"/>
          </a:xfrm>
          <a:prstGeom prst="rect">
            <a:avLst/>
          </a:prstGeom>
          <a:noFill/>
          <a:ln/>
        </p:spPr>
        <p:txBody>
          <a:bodyPr wrap="square" lIns="0" tIns="0" rIns="0" bIns="0" rtlCol="0" anchor="t"/>
          <a:lstStyle/>
          <a:p>
            <a:pPr algn="ctr" indent="0" marL="0">
              <a:buNone/>
            </a:pPr>
            <a:r>
              <a:rPr lang="en-US" sz="1400" dirty="0">
                <a:solidFill>
                  <a:schemeClr val="bg2"/>
                </a:solidFill>
              </a:rPr>
              <a:t>Every metric is computed live on the selected image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lstStyle/>
          <a:p>
            <a:pPr algn="l" indent="0" marL="0">
              <a:buNone/>
            </a:pPr>
            <a:r>
              <a:rPr lang="en-US" sz="3600" b="1" dirty="0">
                <a:solidFill>
                  <a:schemeClr val="bg1"/>
                </a:solidFill>
              </a:rPr>
              <a:t>Takeaways</a:t>
            </a:r>
            <a:endParaRPr lang="en-US" sz="3600" dirty="0"/>
          </a:p>
        </p:txBody>
      </p:sp>
      <p:sp>
        <p:nvSpPr>
          <p:cNvPr id="3" name="takeaway 1 circle"/>
          <p:cNvSpPr/>
          <p:nvPr/>
        </p:nvSpPr>
        <p:spPr>
          <a:xfrm>
            <a:off x="548640" y="1600200"/>
            <a:ext cx="777240" cy="777240"/>
          </a:xfrm>
          <a:prstGeom prst="ellipse">
            <a:avLst/>
          </a:prstGeom>
          <a:solidFill>
            <a:schemeClr val="accent1"/>
          </a:solidFill>
          <a:ln w="12700">
            <a:solidFill>
              <a:schemeClr val="accent1"/>
            </a:solidFill>
            <a:prstDash val="solid"/>
          </a:ln>
        </p:spPr>
      </p:sp>
      <p:pic>
        <p:nvPicPr>
          <p:cNvPr id="4" name="takeaway 1 glyph" descr="preencoded.png">    </p:cNvPr>
          <p:cNvPicPr>
            <a:picLocks noChangeAspect="1"/>
          </p:cNvPicPr>
          <p:nvPr/>
        </p:nvPicPr>
        <p:blipFill>
          <a:blip r:embed="rId1"/>
          <a:stretch>
            <a:fillRect/>
          </a:stretch>
        </p:blipFill>
        <p:spPr>
          <a:xfrm>
            <a:off x="719633" y="1771193"/>
            <a:ext cx="435254" cy="435254"/>
          </a:xfrm>
          <a:prstGeom prst="rect">
            <a:avLst/>
          </a:prstGeom>
        </p:spPr>
      </p:pic>
      <p:sp>
        <p:nvSpPr>
          <p:cNvPr id="5" name="Text 2"/>
          <p:cNvSpPr txBox="1"/>
          <p:nvPr/>
        </p:nvSpPr>
        <p:spPr>
          <a:xfrm>
            <a:off x="1645920" y="1600200"/>
            <a:ext cx="9997135" cy="777240"/>
          </a:xfrm>
          <a:prstGeom prst="rect">
            <a:avLst/>
          </a:prstGeom>
          <a:noFill/>
          <a:ln/>
        </p:spPr>
        <p:txBody>
          <a:bodyPr wrap="square" lIns="0" tIns="0" rIns="0" bIns="0" rtlCol="0" anchor="ctr"/>
          <a:lstStyle/>
          <a:p>
            <a:pPr indent="0" marL="0">
              <a:buNone/>
            </a:pPr>
            <a:r>
              <a:rPr lang="en-US" sz="1800" dirty="0">
                <a:solidFill>
                  <a:schemeClr val="bg1"/>
                </a:solidFill>
              </a:rPr>
              <a:t>Red-channel compensation before white balance is the largest single gain: +0.52 dB PSNR on held-out images.</a:t>
            </a:r>
            <a:endParaRPr lang="en-US" sz="1800" dirty="0"/>
          </a:p>
        </p:txBody>
      </p:sp>
      <p:sp>
        <p:nvSpPr>
          <p:cNvPr id="6" name="takeaway 2 circle"/>
          <p:cNvSpPr/>
          <p:nvPr/>
        </p:nvSpPr>
        <p:spPr>
          <a:xfrm>
            <a:off x="548640" y="2834640"/>
            <a:ext cx="777240" cy="777240"/>
          </a:xfrm>
          <a:prstGeom prst="ellipse">
            <a:avLst/>
          </a:prstGeom>
          <a:solidFill>
            <a:schemeClr val="accent1"/>
          </a:solidFill>
          <a:ln w="12700">
            <a:solidFill>
              <a:schemeClr val="accent1"/>
            </a:solidFill>
            <a:prstDash val="solid"/>
          </a:ln>
        </p:spPr>
      </p:sp>
      <p:pic>
        <p:nvPicPr>
          <p:cNvPr id="7" name="takeaway 2 glyph" descr="preencoded.png">    </p:cNvPr>
          <p:cNvPicPr>
            <a:picLocks noChangeAspect="1"/>
          </p:cNvPicPr>
          <p:nvPr/>
        </p:nvPicPr>
        <p:blipFill>
          <a:blip r:embed="rId2"/>
          <a:stretch>
            <a:fillRect/>
          </a:stretch>
        </p:blipFill>
        <p:spPr>
          <a:xfrm>
            <a:off x="719633" y="3005633"/>
            <a:ext cx="435254" cy="435254"/>
          </a:xfrm>
          <a:prstGeom prst="rect">
            <a:avLst/>
          </a:prstGeom>
        </p:spPr>
      </p:pic>
      <p:sp>
        <p:nvSpPr>
          <p:cNvPr id="8" name="Text 4"/>
          <p:cNvSpPr txBox="1"/>
          <p:nvPr/>
        </p:nvSpPr>
        <p:spPr>
          <a:xfrm>
            <a:off x="1645920" y="2834640"/>
            <a:ext cx="9997135" cy="777240"/>
          </a:xfrm>
          <a:prstGeom prst="rect">
            <a:avLst/>
          </a:prstGeom>
          <a:noFill/>
          <a:ln/>
        </p:spPr>
        <p:txBody>
          <a:bodyPr wrap="square" lIns="0" tIns="0" rIns="0" bIns="0" rtlCol="0" anchor="ctr"/>
          <a:lstStyle/>
          <a:p>
            <a:pPr indent="0" marL="0">
              <a:buNone/>
            </a:pPr>
            <a:r>
              <a:rPr lang="en-US" sz="1800" dirty="0">
                <a:solidFill>
                  <a:schemeClr val="bg1"/>
                </a:solidFill>
              </a:rPr>
              <a:t>The full hybrid has the highest SSIM of all compared methods (0.871), matches CLAHE-only on PSNR, and clearly beats HE and UDCP on 622 held-out images.</a:t>
            </a:r>
            <a:endParaRPr lang="en-US" sz="1800" dirty="0"/>
          </a:p>
        </p:txBody>
      </p:sp>
      <p:sp>
        <p:nvSpPr>
          <p:cNvPr id="9" name="takeaway 3 circle"/>
          <p:cNvSpPr/>
          <p:nvPr/>
        </p:nvSpPr>
        <p:spPr>
          <a:xfrm>
            <a:off x="548640" y="4069080"/>
            <a:ext cx="777240" cy="777240"/>
          </a:xfrm>
          <a:prstGeom prst="ellipse">
            <a:avLst/>
          </a:prstGeom>
          <a:solidFill>
            <a:schemeClr val="accent1"/>
          </a:solidFill>
          <a:ln w="12700">
            <a:solidFill>
              <a:schemeClr val="accent1"/>
            </a:solidFill>
            <a:prstDash val="solid"/>
          </a:ln>
        </p:spPr>
      </p:sp>
      <p:pic>
        <p:nvPicPr>
          <p:cNvPr id="10" name="takeaway 3 glyph" descr="preencoded.png">    </p:cNvPr>
          <p:cNvPicPr>
            <a:picLocks noChangeAspect="1"/>
          </p:cNvPicPr>
          <p:nvPr/>
        </p:nvPicPr>
        <p:blipFill>
          <a:blip r:embed="rId3"/>
          <a:stretch>
            <a:fillRect/>
          </a:stretch>
        </p:blipFill>
        <p:spPr>
          <a:xfrm>
            <a:off x="719633" y="4240073"/>
            <a:ext cx="435254" cy="435254"/>
          </a:xfrm>
          <a:prstGeom prst="rect">
            <a:avLst/>
          </a:prstGeom>
        </p:spPr>
      </p:pic>
      <p:sp>
        <p:nvSpPr>
          <p:cNvPr id="11" name="Text 6"/>
          <p:cNvSpPr txBox="1"/>
          <p:nvPr/>
        </p:nvSpPr>
        <p:spPr>
          <a:xfrm>
            <a:off x="1645920" y="4069080"/>
            <a:ext cx="9997135" cy="777240"/>
          </a:xfrm>
          <a:prstGeom prst="rect">
            <a:avLst/>
          </a:prstGeom>
          <a:noFill/>
          <a:ln/>
        </p:spPr>
        <p:txBody>
          <a:bodyPr wrap="square" lIns="0" tIns="0" rIns="0" bIns="0" rtlCol="0" anchor="ctr"/>
          <a:lstStyle/>
          <a:p>
            <a:pPr indent="0" marL="0">
              <a:buNone/>
            </a:pPr>
            <a:r>
              <a:rPr lang="en-US" sz="1800" dirty="0">
                <a:solidFill>
                  <a:schemeClr val="bg1"/>
                </a:solidFill>
              </a:rPr>
              <a:t>Optimising no-reference scores hurts fidelity: calibrate against references and report results on held-out data.</a:t>
            </a:r>
            <a:endParaRPr lang="en-US" sz="1800" dirty="0"/>
          </a:p>
        </p:txBody>
      </p:sp>
      <p:sp>
        <p:nvSpPr>
          <p:cNvPr id="12" name="thanks"/>
          <p:cNvSpPr txBox="1"/>
          <p:nvPr/>
        </p:nvSpPr>
        <p:spPr>
          <a:xfrm>
            <a:off x="548640" y="5486400"/>
            <a:ext cx="11094415" cy="731520"/>
          </a:xfrm>
          <a:prstGeom prst="rect">
            <a:avLst/>
          </a:prstGeom>
          <a:noFill/>
          <a:ln/>
        </p:spPr>
        <p:txBody>
          <a:bodyPr wrap="square" lIns="0" tIns="0" rIns="0" bIns="0" rtlCol="0" anchor="t"/>
          <a:lstStyle/>
          <a:p>
            <a:pPr indent="0" marL="0">
              <a:buNone/>
            </a:pPr>
            <a:r>
              <a:rPr lang="en-US" sz="2800" b="1" dirty="0">
                <a:solidFill>
                  <a:schemeClr val="accent2"/>
                </a:solidFill>
              </a:rPr>
              <a:t>Thank you ·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cean Review">
      <a:dk1>
        <a:srgbClr val="0F172A"/>
      </a:dk1>
      <a:lt1>
        <a:srgbClr val="FFFFFF"/>
      </a:lt1>
      <a:dk2>
        <a:srgbClr val="0B1F33"/>
      </a:dk2>
      <a:lt2>
        <a:srgbClr val="EEF4F7"/>
      </a:lt2>
      <a:accent1>
        <a:srgbClr val="0E7490"/>
      </a:accent1>
      <a:accent2>
        <a:srgbClr val="F97316"/>
      </a:accent2>
      <a:accent3>
        <a:srgbClr val="10B981"/>
      </a:accent3>
      <a:accent4>
        <a:srgbClr val="8B5CF6"/>
      </a:accent4>
      <a:accent5>
        <a:srgbClr val="64748B"/>
      </a:accent5>
      <a:accent6>
        <a:srgbClr val="F59E0B"/>
      </a:accent6>
      <a:hlink>
        <a:srgbClr val="0E7490"/>
      </a:hlink>
      <a:folHlink>
        <a:srgbClr val="7C3AED"/>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underwater image restoration — Review II</dc:title>
  <dc:subject>PptxGenJS Presentation</dc:subject>
  <dc:creator>Kopal Sachan, Yathaartha Srivastava, Manav Prakash</dc:creator>
  <cp:lastModifiedBy>Kopal Sachan, Yathaartha Srivastava, Manav Prakash</cp:lastModifiedBy>
  <cp:revision>1</cp:revision>
  <dcterms:created xsi:type="dcterms:W3CDTF">2026-10-14T05:23:45Z</dcterms:created>
  <dcterms:modified xsi:type="dcterms:W3CDTF">2026-10-14T05:23:45Z</dcterms:modified>
</cp:coreProperties>
</file>